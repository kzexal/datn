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7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Times New Roman Bold" panose="02020803070505020304" pitchFamily="18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2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Server – backend sử dụng firestore firebase làm database</a:t>
            </a:r>
          </a:p>
          <a:p>
            <a:r>
              <a:rPr lang="en-US"/>
              <a:t>Kế thừa từ 1 dự án startup mà em support, vì có mô hình tương tự. Chỉ config lại key của 1 số dịch vụ</a:t>
            </a:r>
          </a:p>
          <a:p>
            <a:r>
              <a:rPr lang="en-US"/>
              <a:t>Ảnh bên là luồng hoạt động chính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MobiApp sử dụng Flutter, build 2 OS cùng 1 base code</a:t>
            </a:r>
          </a:p>
          <a:p>
            <a:r>
              <a:rPr lang="en-US"/>
              <a:t>Kiến trúc: dựa trên Bloc Pattern : tách bus khỏi UI, phân chia các repo, service xử lí data riêng</a:t>
            </a:r>
          </a:p>
          <a:p>
            <a:r>
              <a:rPr lang="en-US"/>
              <a:t>Ảnh bên là luồng hoạt động chính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Một số màn hình trong App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Trên đây là sơ đồ tổng quan của phần cứng, gồm các khối: </a:t>
            </a:r>
          </a:p>
          <a:p>
            <a:r>
              <a:rPr lang="en-US"/>
              <a:t>Ảnh bên là luồng hoạt động chính.</a:t>
            </a:r>
          </a:p>
          <a:p>
            <a:r>
              <a:rPr lang="en-US"/>
              <a:t>Phần tính toán các trạng thái cảnh báo được thực hiện ở bước… (chỉ vào), với 2 thuật toán chính: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Trên đây là sơ đồ tổng quan của phần cứng, gồm các khối: </a:t>
            </a:r>
          </a:p>
          <a:p>
            <a:r>
              <a:rPr lang="en-US"/>
              <a:t>Ảnh bên là luồng hoạt động chính.</a:t>
            </a:r>
          </a:p>
          <a:p>
            <a:r>
              <a:rPr lang="en-US"/>
              <a:t>Phần tính toán các trạng thái cảnh báo được thực hiện ở bước… (chỉ vào), với 2 thuật toán chính: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Trên đây là sơ đồ tổng quan của phần cứng, gồm các khối: </a:t>
            </a:r>
          </a:p>
          <a:p>
            <a:r>
              <a:rPr lang="en-US"/>
              <a:t>Ảnh bên là luồng hoạt động chính.</a:t>
            </a:r>
          </a:p>
          <a:p>
            <a:r>
              <a:rPr lang="en-US"/>
              <a:t>Phần tính toán các trạng thái cảnh báo được thực hiện ở bước… (chỉ vào), với 2 thuật toán chính: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13/07/2026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79949" y="497072"/>
            <a:ext cx="4761547" cy="1429464"/>
            <a:chOff x="0" y="0"/>
            <a:chExt cx="6348730" cy="19059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8730" cy="1905889"/>
            </a:xfrm>
            <a:custGeom>
              <a:avLst/>
              <a:gdLst/>
              <a:ahLst/>
              <a:cxnLst/>
              <a:rect l="l" t="t" r="r" b="b"/>
              <a:pathLst>
                <a:path w="6348730" h="1905889">
                  <a:moveTo>
                    <a:pt x="0" y="0"/>
                  </a:moveTo>
                  <a:lnTo>
                    <a:pt x="6348730" y="0"/>
                  </a:lnTo>
                  <a:lnTo>
                    <a:pt x="6348730" y="1905889"/>
                  </a:lnTo>
                  <a:lnTo>
                    <a:pt x="0" y="1905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1379" y="3823678"/>
            <a:ext cx="15729455" cy="189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5"/>
              </a:lnSpc>
            </a:pPr>
            <a:r>
              <a:rPr lang="en-US" sz="6699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THIẾT BỊ GIÁM SÁT HỌC SINH LÊN XUỐNG XE BUÝT ĐƯA ĐÓN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1379" y="2810570"/>
            <a:ext cx="1743432" cy="70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 tài: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1379" y="6449949"/>
            <a:ext cx="15494689" cy="198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33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viên:  Bùi Duy Khánh	          </a:t>
            </a:r>
          </a:p>
          <a:p>
            <a:pPr algn="l">
              <a:lnSpc>
                <a:spcPts val="5303"/>
              </a:lnSpc>
            </a:pPr>
            <a:r>
              <a:rPr lang="en-US" sz="33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MSSV:       20224017</a:t>
            </a:r>
          </a:p>
          <a:p>
            <a:pPr algn="l">
              <a:lnSpc>
                <a:spcPts val="5303"/>
              </a:lnSpc>
            </a:pPr>
            <a:r>
              <a:rPr lang="en-US" sz="33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GVHD:      ThS. Đinh Thị Nhung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446955" y="3537"/>
            <a:ext cx="2814980" cy="2649013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05794" y="90504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5154" y="85816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final">
            <a:hlinkClick r:id="" action="ppaction://media"/>
            <a:extLst>
              <a:ext uri="{FF2B5EF4-FFF2-40B4-BE49-F238E27FC236}">
                <a16:creationId xmlns:a16="http://schemas.microsoft.com/office/drawing/2014/main" id="{AB15076F-2E85-7501-20D2-D55535A7DA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62884" y="227656"/>
            <a:ext cx="16209786" cy="91990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624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09600" y="1257300"/>
            <a:ext cx="11170154" cy="4619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6" lvl="1" indent="-474978" algn="l">
              <a:lnSpc>
                <a:spcPts val="9327"/>
              </a:lnSpc>
              <a:buAutoNum type="arabicPeriod"/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 QUAN DỰ ÁN</a:t>
            </a:r>
          </a:p>
          <a:p>
            <a:pPr marL="949956" lvl="1" indent="-474978" algn="l">
              <a:lnSpc>
                <a:spcPts val="9327"/>
              </a:lnSpc>
              <a:buAutoNum type="arabicPeriod"/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- TRIỂN KHAI HỆ THỐNG</a:t>
            </a:r>
          </a:p>
          <a:p>
            <a:pPr marL="949956" lvl="1" indent="-474978" algn="l">
              <a:lnSpc>
                <a:spcPts val="9327"/>
              </a:lnSpc>
              <a:buAutoNum type="arabicPeriod"/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- ĐÁNH GIÁ</a:t>
            </a:r>
          </a:p>
          <a:p>
            <a:pPr marL="949956" lvl="1" indent="-474978" algn="l">
              <a:lnSpc>
                <a:spcPts val="9327"/>
              </a:lnSpc>
              <a:buAutoNum type="arabicPeriod"/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 - HƯỚNG PHÁT TRIỂN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424" y="-142875"/>
            <a:ext cx="9137452" cy="902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0"/>
              </a:lnSpc>
              <a:spcBef>
                <a:spcPct val="0"/>
              </a:spcBef>
            </a:pPr>
            <a:r>
              <a:rPr lang="en-US" sz="4422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Nội</a:t>
            </a:r>
            <a:r>
              <a:rPr lang="en-US" sz="4422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dung </a:t>
            </a:r>
            <a:r>
              <a:rPr lang="en-US" sz="4422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trình</a:t>
            </a:r>
            <a:r>
              <a:rPr lang="en-US" sz="4422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2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bày</a:t>
            </a:r>
            <a:endParaRPr lang="en-US" sz="4422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06D81-7D40-E861-20E4-C1D83666364A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94004" y="3942397"/>
            <a:ext cx="13499992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99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1.TỔNG QUAN DỰ 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910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13906" y="-3258998"/>
            <a:ext cx="9572635" cy="1351436"/>
            <a:chOff x="0" y="0"/>
            <a:chExt cx="12763513" cy="18019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63500" cy="1801876"/>
            </a:xfrm>
            <a:custGeom>
              <a:avLst/>
              <a:gdLst/>
              <a:ahLst/>
              <a:cxnLst/>
              <a:rect l="l" t="t" r="r" b="b"/>
              <a:pathLst>
                <a:path w="12763500" h="1801876">
                  <a:moveTo>
                    <a:pt x="0" y="0"/>
                  </a:moveTo>
                  <a:lnTo>
                    <a:pt x="12763500" y="0"/>
                  </a:lnTo>
                  <a:lnTo>
                    <a:pt x="12763500" y="1801876"/>
                  </a:lnTo>
                  <a:lnTo>
                    <a:pt x="0" y="1801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8803" b="-528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11739" y="-3055353"/>
            <a:ext cx="7562355" cy="1340596"/>
            <a:chOff x="0" y="0"/>
            <a:chExt cx="10083140" cy="17874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83165" cy="1787398"/>
            </a:xfrm>
            <a:custGeom>
              <a:avLst/>
              <a:gdLst/>
              <a:ahLst/>
              <a:cxnLst/>
              <a:rect l="l" t="t" r="r" b="b"/>
              <a:pathLst>
                <a:path w="10083165" h="1787398">
                  <a:moveTo>
                    <a:pt x="0" y="0"/>
                  </a:moveTo>
                  <a:lnTo>
                    <a:pt x="10083165" y="0"/>
                  </a:lnTo>
                  <a:lnTo>
                    <a:pt x="10083165" y="1787398"/>
                  </a:lnTo>
                  <a:lnTo>
                    <a:pt x="0" y="1787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" r="-52653" b="-676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25717" y="-1742961"/>
            <a:ext cx="6953250" cy="1409700"/>
            <a:chOff x="0" y="0"/>
            <a:chExt cx="9271000" cy="187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271000" cy="1879600"/>
            </a:xfrm>
            <a:custGeom>
              <a:avLst/>
              <a:gdLst/>
              <a:ahLst/>
              <a:cxnLst/>
              <a:rect l="l" t="t" r="r" b="b"/>
              <a:pathLst>
                <a:path w="9271000" h="1879600">
                  <a:moveTo>
                    <a:pt x="0" y="0"/>
                  </a:moveTo>
                  <a:lnTo>
                    <a:pt x="9271000" y="0"/>
                  </a:lnTo>
                  <a:lnTo>
                    <a:pt x="9271000" y="1879600"/>
                  </a:lnTo>
                  <a:lnTo>
                    <a:pt x="0" y="187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 rot="-498943">
            <a:off x="655965" y="7710284"/>
            <a:ext cx="2836735" cy="851020"/>
          </a:xfrm>
          <a:custGeom>
            <a:avLst/>
            <a:gdLst/>
            <a:ahLst/>
            <a:cxnLst/>
            <a:rect l="l" t="t" r="r" b="b"/>
            <a:pathLst>
              <a:path w="2836735" h="851020">
                <a:moveTo>
                  <a:pt x="0" y="0"/>
                </a:moveTo>
                <a:lnTo>
                  <a:pt x="2836735" y="0"/>
                </a:lnTo>
                <a:lnTo>
                  <a:pt x="2836735" y="851020"/>
                </a:lnTo>
                <a:lnTo>
                  <a:pt x="0" y="851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6200" y="85039"/>
            <a:ext cx="4507568" cy="63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73"/>
              </a:lnSpc>
              <a:spcBef>
                <a:spcPct val="0"/>
              </a:spcBef>
            </a:pPr>
            <a:r>
              <a:rPr lang="en-US" sz="4419" b="1" u="none" strike="noStrike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u="none" strike="noStrike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Đặt</a:t>
            </a:r>
            <a:r>
              <a:rPr lang="en-US" sz="4419" b="1" u="none" strike="noStrike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u="none" strike="noStrike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vấn</a:t>
            </a:r>
            <a:r>
              <a:rPr lang="en-US" sz="4419" b="1" u="none" strike="noStrike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u="none" strike="noStrike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</a:t>
            </a:r>
            <a:endParaRPr lang="en-US" sz="4419" b="1" u="none" strike="noStrike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6200" y="1325397"/>
            <a:ext cx="8754697" cy="530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2008" lvl="1" indent="-421004">
              <a:lnSpc>
                <a:spcPct val="25000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Bị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bỏ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quên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trên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xe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buýt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đưa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đón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  <a:p>
            <a:pPr marL="842008" lvl="1" indent="-421004">
              <a:lnSpc>
                <a:spcPct val="25000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Điểm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danh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thủ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công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dễ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sai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sót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khi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b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số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lượng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học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sinh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đông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  <a:p>
            <a:pPr marL="842008" lvl="1" indent="-421004">
              <a:lnSpc>
                <a:spcPct val="25000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Phụ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huynh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thiếu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thông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tin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để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kiểm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soát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5430" y="7277100"/>
            <a:ext cx="14582570" cy="1905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1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CẦN HỆ THỐNG TỰ ĐỘNG ĐIỂM DANH VÀ THÔNG BÁO VỊ TRÍ TỨC THỜI.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900976-6E1D-F297-7BA2-4EF1ADD32C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4797" y="876300"/>
            <a:ext cx="8034556" cy="49573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3D2C91-5736-9068-5E6D-8084F8FAE1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0" y="5753100"/>
            <a:ext cx="6134722" cy="17565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334F01-F352-9650-BDE9-2F90155E27A4}"/>
              </a:ext>
            </a:extLst>
          </p:cNvPr>
          <p:cNvSpPr txBox="1"/>
          <p:nvPr/>
        </p:nvSpPr>
        <p:spPr>
          <a:xfrm>
            <a:off x="17547102" y="9680844"/>
            <a:ext cx="14817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sz="2800" dirty="0">
              <a:solidFill>
                <a:srgbClr val="C020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8365" y="1325328"/>
            <a:ext cx="8719951" cy="3794928"/>
            <a:chOff x="0" y="0"/>
            <a:chExt cx="11626601" cy="50599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626601" cy="4605660"/>
              <a:chOff x="0" y="0"/>
              <a:chExt cx="2296612" cy="90976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96613" cy="909760"/>
              </a:xfrm>
              <a:custGeom>
                <a:avLst/>
                <a:gdLst/>
                <a:ahLst/>
                <a:cxnLst/>
                <a:rect l="l" t="t" r="r" b="b"/>
                <a:pathLst>
                  <a:path w="2296613" h="909760">
                    <a:moveTo>
                      <a:pt x="15093" y="0"/>
                    </a:moveTo>
                    <a:lnTo>
                      <a:pt x="2281519" y="0"/>
                    </a:lnTo>
                    <a:cubicBezTo>
                      <a:pt x="2289855" y="0"/>
                      <a:pt x="2296613" y="6757"/>
                      <a:pt x="2296613" y="15093"/>
                    </a:cubicBezTo>
                    <a:lnTo>
                      <a:pt x="2296613" y="894667"/>
                    </a:lnTo>
                    <a:cubicBezTo>
                      <a:pt x="2296613" y="903002"/>
                      <a:pt x="2289855" y="909760"/>
                      <a:pt x="2281519" y="909760"/>
                    </a:cubicBezTo>
                    <a:lnTo>
                      <a:pt x="15093" y="909760"/>
                    </a:lnTo>
                    <a:cubicBezTo>
                      <a:pt x="11090" y="909760"/>
                      <a:pt x="7251" y="908170"/>
                      <a:pt x="4421" y="905339"/>
                    </a:cubicBezTo>
                    <a:cubicBezTo>
                      <a:pt x="1590" y="902509"/>
                      <a:pt x="0" y="898670"/>
                      <a:pt x="0" y="894667"/>
                    </a:cubicBezTo>
                    <a:lnTo>
                      <a:pt x="0" y="15093"/>
                    </a:lnTo>
                    <a:cubicBezTo>
                      <a:pt x="0" y="11090"/>
                      <a:pt x="1590" y="7251"/>
                      <a:pt x="4421" y="4421"/>
                    </a:cubicBezTo>
                    <a:cubicBezTo>
                      <a:pt x="7251" y="1590"/>
                      <a:pt x="11090" y="0"/>
                      <a:pt x="150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2296612" cy="9288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7476059" y="1218727"/>
              <a:ext cx="3930121" cy="3198013"/>
            </a:xfrm>
            <a:custGeom>
              <a:avLst/>
              <a:gdLst/>
              <a:ahLst/>
              <a:cxnLst/>
              <a:rect l="l" t="t" r="r" b="b"/>
              <a:pathLst>
                <a:path w="4150541" h="3559494">
                  <a:moveTo>
                    <a:pt x="0" y="0"/>
                  </a:moveTo>
                  <a:lnTo>
                    <a:pt x="4150542" y="0"/>
                  </a:lnTo>
                  <a:lnTo>
                    <a:pt x="4150542" y="3559494"/>
                  </a:lnTo>
                  <a:lnTo>
                    <a:pt x="0" y="355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115" b="-91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3706"/>
              <a:ext cx="11626601" cy="956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1"/>
                </a:lnSpc>
                <a:spcBef>
                  <a:spcPct val="0"/>
                </a:spcBef>
              </a:pP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Điểm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danh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thủ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công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(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Sổ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sách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Giám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thị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)</a:t>
              </a:r>
            </a:p>
            <a:p>
              <a:pPr algn="ctr">
                <a:lnSpc>
                  <a:spcPts val="2721"/>
                </a:lnSpc>
                <a:spcBef>
                  <a:spcPct val="0"/>
                </a:spcBef>
              </a:pPr>
              <a:endPara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01" y="1015036"/>
              <a:ext cx="7748581" cy="40448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44078" lvl="1" indent="-272039" algn="l">
                <a:lnSpc>
                  <a:spcPts val="40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Ưu</a:t>
              </a:r>
              <a:r>
                <a:rPr lang="en-US" sz="2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điểm</a:t>
              </a:r>
              <a:r>
                <a:rPr lang="en-US" sz="2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: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Không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tốn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chi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phí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trang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thiết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bị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.</a:t>
              </a:r>
            </a:p>
            <a:p>
              <a:pPr marL="544078" lvl="1" indent="-272039" algn="l">
                <a:lnSpc>
                  <a:spcPts val="40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Nhược</a:t>
              </a:r>
              <a:r>
                <a:rPr lang="en-US" sz="2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điểm</a:t>
              </a:r>
              <a:r>
                <a:rPr lang="en-US" sz="2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: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Rất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dễ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sai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sót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khi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đông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học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sinh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.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Phụ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huynh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bị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động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không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thể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theo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dõi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.</a:t>
              </a:r>
            </a:p>
            <a:p>
              <a:pPr algn="l">
                <a:lnSpc>
                  <a:spcPts val="400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08171" y="685057"/>
            <a:ext cx="9179828" cy="4960941"/>
            <a:chOff x="-47772" y="0"/>
            <a:chExt cx="12239771" cy="6614587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757253"/>
              <a:ext cx="12041925" cy="4711028"/>
              <a:chOff x="0" y="-19050"/>
              <a:chExt cx="2378652" cy="93057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0208" y="0"/>
                <a:ext cx="2358444" cy="911523"/>
              </a:xfrm>
              <a:custGeom>
                <a:avLst/>
                <a:gdLst/>
                <a:ahLst/>
                <a:cxnLst/>
                <a:rect l="l" t="t" r="r" b="b"/>
                <a:pathLst>
                  <a:path w="2358444" h="911523">
                    <a:moveTo>
                      <a:pt x="14698" y="0"/>
                    </a:moveTo>
                    <a:lnTo>
                      <a:pt x="2343746" y="0"/>
                    </a:lnTo>
                    <a:cubicBezTo>
                      <a:pt x="2347644" y="0"/>
                      <a:pt x="2351383" y="1548"/>
                      <a:pt x="2354139" y="4305"/>
                    </a:cubicBezTo>
                    <a:cubicBezTo>
                      <a:pt x="2356895" y="7061"/>
                      <a:pt x="2358444" y="10800"/>
                      <a:pt x="2358444" y="14698"/>
                    </a:cubicBezTo>
                    <a:lnTo>
                      <a:pt x="2358444" y="896826"/>
                    </a:lnTo>
                    <a:cubicBezTo>
                      <a:pt x="2358444" y="900724"/>
                      <a:pt x="2356895" y="904462"/>
                      <a:pt x="2354139" y="907219"/>
                    </a:cubicBezTo>
                    <a:cubicBezTo>
                      <a:pt x="2351383" y="909975"/>
                      <a:pt x="2347644" y="911523"/>
                      <a:pt x="2343746" y="911523"/>
                    </a:cubicBezTo>
                    <a:lnTo>
                      <a:pt x="14698" y="911523"/>
                    </a:lnTo>
                    <a:cubicBezTo>
                      <a:pt x="10800" y="911523"/>
                      <a:pt x="7061" y="909975"/>
                      <a:pt x="4305" y="907219"/>
                    </a:cubicBezTo>
                    <a:cubicBezTo>
                      <a:pt x="1548" y="904462"/>
                      <a:pt x="0" y="900724"/>
                      <a:pt x="0" y="896826"/>
                    </a:cubicBezTo>
                    <a:lnTo>
                      <a:pt x="0" y="14698"/>
                    </a:lnTo>
                    <a:cubicBezTo>
                      <a:pt x="0" y="10800"/>
                      <a:pt x="1548" y="7061"/>
                      <a:pt x="4305" y="4305"/>
                    </a:cubicBezTo>
                    <a:cubicBezTo>
                      <a:pt x="7061" y="1548"/>
                      <a:pt x="10800" y="0"/>
                      <a:pt x="14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2358444" cy="9305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1080943"/>
              <a:ext cx="11939623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1"/>
                </a:lnSpc>
                <a:spcBef>
                  <a:spcPct val="0"/>
                </a:spcBef>
              </a:pP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Máy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quẹt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thẻ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kiểm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soát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cửa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chấm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công</a:t>
              </a:r>
              <a:endPara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47772" y="1705673"/>
              <a:ext cx="6439126" cy="35907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44078" lvl="1" indent="-272039">
                <a:lnSpc>
                  <a:spcPts val="30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Ưu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điểm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: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Nhận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diện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thẻ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RFID/Vân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tay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rất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tốt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hoạt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động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bền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bỉ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.</a:t>
              </a:r>
            </a:p>
            <a:p>
              <a:pPr marL="544078" lvl="1" indent="-272039">
                <a:lnSpc>
                  <a:spcPts val="3000"/>
                </a:lnSpc>
                <a:buFont typeface="Arial"/>
                <a:buChar char="•"/>
              </a:pP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Nhược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điểm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: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Thiết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kế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cho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vị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trí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cố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định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trong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tòa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nhà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.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Không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có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GPS. </a:t>
              </a:r>
              <a:b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</a:b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Giá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cao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(~1.5  - 2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triệu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VNĐ)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61184" y="0"/>
              <a:ext cx="6130815" cy="6614587"/>
            </a:xfrm>
            <a:custGeom>
              <a:avLst/>
              <a:gdLst/>
              <a:ahLst/>
              <a:cxnLst/>
              <a:rect l="l" t="t" r="r" b="b"/>
              <a:pathLst>
                <a:path w="6614587" h="6614587">
                  <a:moveTo>
                    <a:pt x="0" y="0"/>
                  </a:moveTo>
                  <a:lnTo>
                    <a:pt x="6614587" y="0"/>
                  </a:lnTo>
                  <a:lnTo>
                    <a:pt x="6614587" y="6614587"/>
                  </a:lnTo>
                  <a:lnTo>
                    <a:pt x="0" y="6614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33453" y="4972780"/>
            <a:ext cx="9815257" cy="4581877"/>
            <a:chOff x="-205741" y="2252604"/>
            <a:chExt cx="13087009" cy="610917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2252604"/>
              <a:ext cx="12881268" cy="5676467"/>
              <a:chOff x="0" y="0"/>
              <a:chExt cx="2296612" cy="101206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296613" cy="1012062"/>
              </a:xfrm>
              <a:custGeom>
                <a:avLst/>
                <a:gdLst/>
                <a:ahLst/>
                <a:cxnLst/>
                <a:rect l="l" t="t" r="r" b="b"/>
                <a:pathLst>
                  <a:path w="2296613" h="1012062">
                    <a:moveTo>
                      <a:pt x="15093" y="0"/>
                    </a:moveTo>
                    <a:lnTo>
                      <a:pt x="2281519" y="0"/>
                    </a:lnTo>
                    <a:cubicBezTo>
                      <a:pt x="2289855" y="0"/>
                      <a:pt x="2296613" y="6757"/>
                      <a:pt x="2296613" y="15093"/>
                    </a:cubicBezTo>
                    <a:lnTo>
                      <a:pt x="2296613" y="996969"/>
                    </a:lnTo>
                    <a:cubicBezTo>
                      <a:pt x="2296613" y="1000972"/>
                      <a:pt x="2295022" y="1004811"/>
                      <a:pt x="2292192" y="1007642"/>
                    </a:cubicBezTo>
                    <a:cubicBezTo>
                      <a:pt x="2289361" y="1010472"/>
                      <a:pt x="2285522" y="1012062"/>
                      <a:pt x="2281519" y="1012062"/>
                    </a:cubicBezTo>
                    <a:lnTo>
                      <a:pt x="15093" y="1012062"/>
                    </a:lnTo>
                    <a:cubicBezTo>
                      <a:pt x="6757" y="1012062"/>
                      <a:pt x="0" y="1005305"/>
                      <a:pt x="0" y="996969"/>
                    </a:cubicBezTo>
                    <a:lnTo>
                      <a:pt x="0" y="15093"/>
                    </a:lnTo>
                    <a:cubicBezTo>
                      <a:pt x="0" y="11090"/>
                      <a:pt x="1590" y="7251"/>
                      <a:pt x="4421" y="4421"/>
                    </a:cubicBezTo>
                    <a:cubicBezTo>
                      <a:pt x="7251" y="1590"/>
                      <a:pt x="11090" y="0"/>
                      <a:pt x="150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2296612" cy="10311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2565897"/>
              <a:ext cx="12881268" cy="512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15"/>
                </a:lnSpc>
                <a:spcBef>
                  <a:spcPct val="0"/>
                </a:spcBef>
              </a:pP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Giải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pháp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của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đồ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án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(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Thiết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bị</a:t>
              </a: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SBAS-32)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05741" y="3294403"/>
              <a:ext cx="8841497" cy="50673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02791" lvl="1" indent="-301396" algn="l">
                <a:lnSpc>
                  <a:spcPct val="1500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Ưu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điểm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: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Tích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hợp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2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trong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1: Định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danh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+ Định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vị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. Chi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phí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linh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kiện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thấp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b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</a:b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(~600k VNĐ).</a:t>
              </a:r>
            </a:p>
            <a:p>
              <a:pPr marL="602791" lvl="1" indent="-301396" algn="l">
                <a:lnSpc>
                  <a:spcPct val="1500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Nhược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điểm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: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Đang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ở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bản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nguyên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mẫu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phụ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thuộc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vào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kết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nối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Wi-Fi.</a:t>
              </a:r>
            </a:p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endPara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635756" y="2992445"/>
              <a:ext cx="4245512" cy="4936625"/>
            </a:xfrm>
            <a:custGeom>
              <a:avLst/>
              <a:gdLst/>
              <a:ahLst/>
              <a:cxnLst/>
              <a:rect l="l" t="t" r="r" b="b"/>
              <a:pathLst>
                <a:path w="4887101" h="8668915">
                  <a:moveTo>
                    <a:pt x="0" y="0"/>
                  </a:moveTo>
                  <a:lnTo>
                    <a:pt x="4887101" y="0"/>
                  </a:lnTo>
                  <a:lnTo>
                    <a:pt x="4887101" y="8668915"/>
                  </a:lnTo>
                  <a:lnTo>
                    <a:pt x="0" y="8668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0618" r="-15112" b="-14986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08364" y="205819"/>
            <a:ext cx="15717435" cy="63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sánh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với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giải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pháp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đang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có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trên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thị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6E0B9B-D5CE-3097-0745-5040873F6FE6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98069"/>
            <a:ext cx="8915400" cy="63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tiêu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của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đồ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án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tốt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nghiệp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03191" y="1447800"/>
            <a:ext cx="8512205" cy="6046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lắc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Telegram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400" dirty="0">
              <a:solidFill>
                <a:srgbClr val="00336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l">
              <a:lnSpc>
                <a:spcPts val="7435"/>
              </a:lnSpc>
            </a:pPr>
            <a:endParaRPr lang="en-US" sz="3400" dirty="0">
              <a:solidFill>
                <a:srgbClr val="00336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9D79A-F18C-9506-113A-3157D9BE96AC}"/>
              </a:ext>
            </a:extLst>
          </p:cNvPr>
          <p:cNvSpPr txBox="1"/>
          <p:nvPr/>
        </p:nvSpPr>
        <p:spPr>
          <a:xfrm>
            <a:off x="9906000" y="1447800"/>
            <a:ext cx="8153399" cy="5072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huynh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buýt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B8B136-E600-F7AE-DC25-5AA954B6DA47}"/>
              </a:ext>
            </a:extLst>
          </p:cNvPr>
          <p:cNvCxnSpPr>
            <a:cxnSpLocks/>
          </p:cNvCxnSpPr>
          <p:nvPr/>
        </p:nvCxnSpPr>
        <p:spPr>
          <a:xfrm>
            <a:off x="8915400" y="1447800"/>
            <a:ext cx="0" cy="674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5FF80A-5BA8-3DB7-D4D9-9BF87065C262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50981" y="3942397"/>
            <a:ext cx="15186038" cy="278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99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THIẾT KẾ - TRIỂN KHAI HỆ THỐNG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0200" y="1339501"/>
            <a:ext cx="14551619" cy="7227119"/>
          </a:xfrm>
          <a:custGeom>
            <a:avLst/>
            <a:gdLst/>
            <a:ahLst/>
            <a:cxnLst/>
            <a:rect l="l" t="t" r="r" b="b"/>
            <a:pathLst>
              <a:path w="13550396" h="6916358">
                <a:moveTo>
                  <a:pt x="0" y="0"/>
                </a:moveTo>
                <a:lnTo>
                  <a:pt x="13550396" y="0"/>
                </a:lnTo>
                <a:lnTo>
                  <a:pt x="13550396" y="6916359"/>
                </a:lnTo>
                <a:lnTo>
                  <a:pt x="0" y="6916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" b="-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667515" y="8566621"/>
            <a:ext cx="466582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Sơ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đồ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của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endParaRPr lang="en-US" sz="28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30CB5FB-430B-F2BE-3E11-7168A8E181EB}"/>
              </a:ext>
            </a:extLst>
          </p:cNvPr>
          <p:cNvSpPr txBox="1"/>
          <p:nvPr/>
        </p:nvSpPr>
        <p:spPr>
          <a:xfrm>
            <a:off x="-685800" y="266700"/>
            <a:ext cx="89154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Sơ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đồ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của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endParaRPr lang="en-US" sz="4420" b="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8878FB-74CC-347C-B813-94105440C223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7422" y="1209859"/>
            <a:ext cx="15689978" cy="7791450"/>
          </a:xfrm>
          <a:custGeom>
            <a:avLst/>
            <a:gdLst/>
            <a:ahLst/>
            <a:cxnLst/>
            <a:rect l="l" t="t" r="r" b="b"/>
            <a:pathLst>
              <a:path w="14937488" h="7599447">
                <a:moveTo>
                  <a:pt x="0" y="0"/>
                </a:moveTo>
                <a:lnTo>
                  <a:pt x="14937488" y="0"/>
                </a:lnTo>
                <a:lnTo>
                  <a:pt x="14937488" y="7599447"/>
                </a:lnTo>
                <a:lnTo>
                  <a:pt x="0" y="7599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72" b="-251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391334" y="9001309"/>
            <a:ext cx="550533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Luồng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hoạt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động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chính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của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</a:t>
            </a:r>
            <a:r>
              <a: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bị</a:t>
            </a:r>
            <a:endParaRPr lang="en-US" sz="28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479"/>
              </a:lnSpc>
              <a:spcBef>
                <a:spcPct val="0"/>
              </a:spcBef>
            </a:pPr>
            <a:endParaRPr lang="en-US" sz="28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F01AF36-3AAC-0026-A34A-A79A5492120F}"/>
              </a:ext>
            </a:extLst>
          </p:cNvPr>
          <p:cNvSpPr txBox="1"/>
          <p:nvPr/>
        </p:nvSpPr>
        <p:spPr>
          <a:xfrm>
            <a:off x="228600" y="364479"/>
            <a:ext cx="113538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79"/>
              </a:lnSpc>
            </a:pP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Luồng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hoạt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động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chính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của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</a:t>
            </a:r>
            <a:r>
              <a:rPr lang="en-US" sz="442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bị</a:t>
            </a:r>
            <a:endParaRPr lang="en-US" sz="4420" b="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FAC0D-3B13-D555-A60C-02399BC03174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3576" y="1257300"/>
            <a:ext cx="11890023" cy="8273376"/>
          </a:xfrm>
          <a:custGeom>
            <a:avLst/>
            <a:gdLst/>
            <a:ahLst/>
            <a:cxnLst/>
            <a:rect l="l" t="t" r="r" b="b"/>
            <a:pathLst>
              <a:path w="11588046" h="7959568">
                <a:moveTo>
                  <a:pt x="0" y="0"/>
                </a:moveTo>
                <a:lnTo>
                  <a:pt x="11588047" y="0"/>
                </a:lnTo>
                <a:lnTo>
                  <a:pt x="11588047" y="7959568"/>
                </a:lnTo>
                <a:lnTo>
                  <a:pt x="0" y="795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8600" y="74161"/>
            <a:ext cx="1172272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03"/>
              </a:lnSpc>
              <a:spcBef>
                <a:spcPct val="0"/>
              </a:spcBef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Device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519" y="1790700"/>
            <a:ext cx="4936481" cy="375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98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Sơ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đồ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nguyên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lý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của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thiết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bị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9EB41-3F6E-6358-5FA6-13125DFBED10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653832" y="1264946"/>
            <a:ext cx="4318734" cy="4156528"/>
          </a:xfrm>
          <a:custGeom>
            <a:avLst/>
            <a:gdLst/>
            <a:ahLst/>
            <a:cxnLst/>
            <a:rect l="l" t="t" r="r" b="b"/>
            <a:pathLst>
              <a:path w="4318734" h="4156528">
                <a:moveTo>
                  <a:pt x="0" y="0"/>
                </a:moveTo>
                <a:lnTo>
                  <a:pt x="4318733" y="0"/>
                </a:lnTo>
                <a:lnTo>
                  <a:pt x="4318733" y="4156528"/>
                </a:lnTo>
                <a:lnTo>
                  <a:pt x="0" y="4156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088512" y="1264946"/>
            <a:ext cx="4286419" cy="4156528"/>
          </a:xfrm>
          <a:custGeom>
            <a:avLst/>
            <a:gdLst/>
            <a:ahLst/>
            <a:cxnLst/>
            <a:rect l="l" t="t" r="r" b="b"/>
            <a:pathLst>
              <a:path w="4286419" h="4156528">
                <a:moveTo>
                  <a:pt x="0" y="0"/>
                </a:moveTo>
                <a:lnTo>
                  <a:pt x="4286419" y="0"/>
                </a:lnTo>
                <a:lnTo>
                  <a:pt x="4286419" y="4156528"/>
                </a:lnTo>
                <a:lnTo>
                  <a:pt x="0" y="415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771775" y="5521760"/>
            <a:ext cx="4082848" cy="4012010"/>
          </a:xfrm>
          <a:custGeom>
            <a:avLst/>
            <a:gdLst/>
            <a:ahLst/>
            <a:cxnLst/>
            <a:rect l="l" t="t" r="r" b="b"/>
            <a:pathLst>
              <a:path w="4082848" h="4012010">
                <a:moveTo>
                  <a:pt x="0" y="0"/>
                </a:moveTo>
                <a:lnTo>
                  <a:pt x="4082848" y="0"/>
                </a:lnTo>
                <a:lnTo>
                  <a:pt x="4082848" y="4012010"/>
                </a:lnTo>
                <a:lnTo>
                  <a:pt x="0" y="4012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854623" y="5421474"/>
            <a:ext cx="4616742" cy="4212582"/>
          </a:xfrm>
          <a:custGeom>
            <a:avLst/>
            <a:gdLst/>
            <a:ahLst/>
            <a:cxnLst/>
            <a:rect l="l" t="t" r="r" b="b"/>
            <a:pathLst>
              <a:path w="4616742" h="4212582">
                <a:moveTo>
                  <a:pt x="0" y="0"/>
                </a:moveTo>
                <a:lnTo>
                  <a:pt x="4616741" y="0"/>
                </a:lnTo>
                <a:lnTo>
                  <a:pt x="4616741" y="4212582"/>
                </a:lnTo>
                <a:lnTo>
                  <a:pt x="0" y="4212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509464" y="5596657"/>
            <a:ext cx="3223326" cy="3937113"/>
          </a:xfrm>
          <a:custGeom>
            <a:avLst/>
            <a:gdLst/>
            <a:ahLst/>
            <a:cxnLst/>
            <a:rect l="l" t="t" r="r" b="b"/>
            <a:pathLst>
              <a:path w="3223326" h="3937113">
                <a:moveTo>
                  <a:pt x="0" y="0"/>
                </a:moveTo>
                <a:lnTo>
                  <a:pt x="3223326" y="0"/>
                </a:lnTo>
                <a:lnTo>
                  <a:pt x="3223326" y="3937113"/>
                </a:lnTo>
                <a:lnTo>
                  <a:pt x="0" y="39371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45" r="-25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799465" y="5327115"/>
            <a:ext cx="3402373" cy="4476196"/>
          </a:xfrm>
          <a:custGeom>
            <a:avLst/>
            <a:gdLst/>
            <a:ahLst/>
            <a:cxnLst/>
            <a:rect l="l" t="t" r="r" b="b"/>
            <a:pathLst>
              <a:path w="3402373" h="4476196">
                <a:moveTo>
                  <a:pt x="0" y="0"/>
                </a:moveTo>
                <a:lnTo>
                  <a:pt x="3402373" y="0"/>
                </a:lnTo>
                <a:lnTo>
                  <a:pt x="3402373" y="4476197"/>
                </a:lnTo>
                <a:lnTo>
                  <a:pt x="0" y="44761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954" r="-39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6585" y="97226"/>
            <a:ext cx="1182943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03"/>
              </a:lnSpc>
              <a:spcBef>
                <a:spcPct val="0"/>
              </a:spcBef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Device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586" y="1345969"/>
            <a:ext cx="2421300" cy="1490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98"/>
              </a:lnSpc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Mạch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in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và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hộp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bảo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vệ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bên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ngoài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>
              <a:lnSpc>
                <a:spcPts val="2898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063977" y="-1817402"/>
            <a:ext cx="4675148" cy="8292946"/>
          </a:xfrm>
          <a:custGeom>
            <a:avLst/>
            <a:gdLst/>
            <a:ahLst/>
            <a:cxnLst/>
            <a:rect l="l" t="t" r="r" b="b"/>
            <a:pathLst>
              <a:path w="4675148" h="8292946">
                <a:moveTo>
                  <a:pt x="0" y="0"/>
                </a:moveTo>
                <a:lnTo>
                  <a:pt x="4675148" y="0"/>
                </a:lnTo>
                <a:lnTo>
                  <a:pt x="4675148" y="8292945"/>
                </a:lnTo>
                <a:lnTo>
                  <a:pt x="0" y="82929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3B7700-6451-A86C-1C72-07B3490E4A72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5572" y="1341201"/>
            <a:ext cx="9796628" cy="3543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Realtime Database:</a:t>
            </a:r>
          </a:p>
          <a:p>
            <a:pPr marL="594782" lvl="1" indent="-297391" algn="l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Đóng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vai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trò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Database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trung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tâm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của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hệ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thống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  <a:p>
            <a:pPr marL="594782" lvl="1" indent="-297391" algn="l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Cập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nhật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trạng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thái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(In/Out)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theo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thời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gian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thực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dạng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JSON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9448800" y="1341201"/>
            <a:ext cx="9024772" cy="6164499"/>
          </a:xfrm>
          <a:custGeom>
            <a:avLst/>
            <a:gdLst/>
            <a:ahLst/>
            <a:cxnLst/>
            <a:rect l="l" t="t" r="r" b="b"/>
            <a:pathLst>
              <a:path w="15750603" h="6639417">
                <a:moveTo>
                  <a:pt x="0" y="0"/>
                </a:moveTo>
                <a:lnTo>
                  <a:pt x="15750603" y="0"/>
                </a:lnTo>
                <a:lnTo>
                  <a:pt x="15750603" y="6639417"/>
                </a:lnTo>
                <a:lnTo>
                  <a:pt x="0" y="663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008" r="-78571" b="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85572" y="220656"/>
            <a:ext cx="8340686" cy="63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Database &amp; Telegram Bot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0D056-2C68-190D-DC10-7F344E25A1A1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106402" y="1209334"/>
            <a:ext cx="4982011" cy="8048966"/>
            <a:chOff x="0" y="0"/>
            <a:chExt cx="5682957" cy="101279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82957" cy="10127991"/>
            </a:xfrm>
            <a:custGeom>
              <a:avLst/>
              <a:gdLst/>
              <a:ahLst/>
              <a:cxnLst/>
              <a:rect l="l" t="t" r="r" b="b"/>
              <a:pathLst>
                <a:path w="5682957" h="10127991">
                  <a:moveTo>
                    <a:pt x="0" y="0"/>
                  </a:moveTo>
                  <a:lnTo>
                    <a:pt x="5682957" y="0"/>
                  </a:lnTo>
                  <a:lnTo>
                    <a:pt x="5682957" y="10127991"/>
                  </a:lnTo>
                  <a:lnTo>
                    <a:pt x="0" y="1012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4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905408"/>
              <a:ext cx="5682957" cy="1222583"/>
            </a:xfrm>
            <a:custGeom>
              <a:avLst/>
              <a:gdLst/>
              <a:ahLst/>
              <a:cxnLst/>
              <a:rect l="l" t="t" r="r" b="b"/>
              <a:pathLst>
                <a:path w="5682957" h="1222583">
                  <a:moveTo>
                    <a:pt x="0" y="0"/>
                  </a:moveTo>
                  <a:lnTo>
                    <a:pt x="5682957" y="0"/>
                  </a:lnTo>
                  <a:lnTo>
                    <a:pt x="5682957" y="1222583"/>
                  </a:lnTo>
                  <a:lnTo>
                    <a:pt x="0" y="1222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22" t="-995405" r="-30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5029200" y="1304358"/>
            <a:ext cx="8077202" cy="8048966"/>
          </a:xfrm>
          <a:custGeom>
            <a:avLst/>
            <a:gdLst/>
            <a:ahLst/>
            <a:cxnLst/>
            <a:rect l="l" t="t" r="r" b="b"/>
            <a:pathLst>
              <a:path w="7839618" h="7405943">
                <a:moveTo>
                  <a:pt x="0" y="0"/>
                </a:moveTo>
                <a:lnTo>
                  <a:pt x="7839618" y="0"/>
                </a:lnTo>
                <a:lnTo>
                  <a:pt x="7839618" y="7405943"/>
                </a:lnTo>
                <a:lnTo>
                  <a:pt x="0" y="7405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9" r="-10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5573" y="1125216"/>
            <a:ext cx="4996027" cy="6762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Telegram Bot API:</a:t>
            </a:r>
          </a:p>
          <a:p>
            <a:pPr marL="594781" lvl="1" indent="-297391" algn="l">
              <a:lnSpc>
                <a:spcPct val="20000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Đóng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trò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liên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giữa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phụ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huynh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thiết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 </a:t>
            </a:r>
          </a:p>
          <a:p>
            <a:pPr marL="594781" lvl="1" indent="-297391" algn="l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Thông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báo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phụ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huynh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về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thông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tin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học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sinh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lên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/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xuống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xe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  <a:p>
            <a:pPr marL="594781" lvl="1" indent="-297391" algn="l">
              <a:lnSpc>
                <a:spcPct val="20000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Phản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hồi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khi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nhận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yêu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cầu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trí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của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phụ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huynh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572" y="220656"/>
            <a:ext cx="8340686" cy="63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Database &amp; Telegram 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FEE41-027A-1BAF-A0AC-3FBAA5C38B6D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47800" y="4076700"/>
            <a:ext cx="15741596" cy="274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99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KIỂM THỬ - ĐÁNH GIÁ</a:t>
            </a:r>
          </a:p>
          <a:p>
            <a:pPr algn="ctr">
              <a:lnSpc>
                <a:spcPts val="10692"/>
              </a:lnSpc>
            </a:pPr>
            <a:endParaRPr lang="en-US" sz="990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2400" y="315020"/>
            <a:ext cx="5894652" cy="507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442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sz="442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442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và</a:t>
            </a:r>
            <a:r>
              <a:rPr lang="en-US" sz="442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</a:t>
            </a:r>
            <a:r>
              <a:rPr lang="en-US" sz="442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2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giá</a:t>
            </a:r>
            <a:endParaRPr lang="en-US" sz="442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1137999"/>
            <a:ext cx="18048286" cy="604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1365" lvl="1" algn="l">
              <a:lnSpc>
                <a:spcPct val="200000"/>
              </a:lnSpc>
            </a:pP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Điều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kiện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1: 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 di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chỗ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thoáng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sóng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ăng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ten GPS,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sóng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Wi-Fi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ổn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71365" lvl="1" algn="l">
              <a:lnSpc>
                <a:spcPct val="200000"/>
              </a:lnSpc>
            </a:pP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Điều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kiện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2: 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sóng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vệ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tinh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sóng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điện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thoại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yếu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71365" lvl="1" algn="l">
              <a:lnSpc>
                <a:spcPct val="200000"/>
              </a:lnSpc>
            </a:pP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Điều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kiện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4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344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nguồn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xuyên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suốt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khoản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telegram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huynh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đăng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</a:t>
            </a:r>
            <a:r>
              <a:rPr lang="en-US" sz="3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6742"/>
              </a:lnSpc>
            </a:pPr>
            <a:endParaRPr lang="en-US" sz="344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838A8-00BC-656A-2E76-8D3300C83A3D}"/>
              </a:ext>
            </a:extLst>
          </p:cNvPr>
          <p:cNvSpPr txBox="1"/>
          <p:nvPr/>
        </p:nvSpPr>
        <p:spPr>
          <a:xfrm>
            <a:off x="17547102" y="9639300"/>
            <a:ext cx="14817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  <a:p>
            <a:endParaRPr lang="en-US" sz="2800" dirty="0">
              <a:solidFill>
                <a:srgbClr val="C020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2400" y="114300"/>
            <a:ext cx="12017517" cy="63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năng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nhận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diện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và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cập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nhật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2400" y="1333500"/>
            <a:ext cx="17827732" cy="696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Hành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động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Học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quẹt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thẻ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RFID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nhau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khoảng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ngẫu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nhiên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kỳ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vọng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1599897" lvl="2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Còi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bíp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OLED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"LÊN/XUỐNG XE".</a:t>
            </a:r>
          </a:p>
          <a:p>
            <a:pPr marL="1599897" lvl="2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 Trường status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Firebase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cập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trạng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 &lt;-&gt; Out).</a:t>
            </a:r>
          </a:p>
          <a:p>
            <a:pPr marL="1599897" lvl="2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Điện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thoại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 Telegram.</a:t>
            </a:r>
          </a:p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Số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lần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endParaRPr lang="en-US" sz="3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5648" lvl="1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đo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tế</a:t>
            </a:r>
            <a:endParaRPr lang="en-US" sz="3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00200" indent="-625475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30/30.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lệ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0%.</a:t>
            </a:r>
          </a:p>
          <a:p>
            <a:pPr marL="1600200" indent="-625475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10/30.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lệ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66%.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8EA39-0B5D-2B4D-1962-217FBE346DCB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11002" y="156629"/>
            <a:ext cx="10761798" cy="63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năng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truy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vấn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1002" y="1381079"/>
            <a:ext cx="17772198" cy="696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Hành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động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huynh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nhắn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lệnh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vitri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rồi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đợi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phản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hồi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trí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buýt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kỳ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vọng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1599897" lvl="2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nhắn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huynh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599897" lvl="2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 App Telegram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nhắn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phản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hồi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kèm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đường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 Google Maps.</a:t>
            </a:r>
          </a:p>
          <a:p>
            <a:pPr marL="1599897" lvl="2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3: Sai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GPS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20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Số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lần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endParaRPr lang="en-US" sz="3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5648" lvl="1" algn="l">
              <a:lnSpc>
                <a:spcPct val="150000"/>
              </a:lnSpc>
              <a:spcBef>
                <a:spcPct val="0"/>
              </a:spcBef>
            </a:pP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đo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</a:t>
            </a:r>
            <a:r>
              <a:rPr lang="en-US" sz="3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tế</a:t>
            </a:r>
            <a:endParaRPr lang="en-US" sz="3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1546225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28/30.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lệ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7%.</a:t>
            </a:r>
          </a:p>
          <a:p>
            <a:pPr marL="1546225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5/30.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lệ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3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83%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95AAD-EE6D-A1D1-18FD-2328940FA4B7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94004" y="3942397"/>
            <a:ext cx="13499992" cy="5494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99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KẾT LUẬN - HƯỚNG PHÁT TRIỂN</a:t>
            </a:r>
          </a:p>
          <a:p>
            <a:pPr algn="ctr">
              <a:lnSpc>
                <a:spcPts val="10692"/>
              </a:lnSpc>
            </a:pPr>
            <a:endParaRPr lang="en-US" sz="990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10692"/>
              </a:lnSpc>
            </a:pPr>
            <a:endParaRPr lang="en-US" sz="990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38958" y="175158"/>
            <a:ext cx="2761441" cy="63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luận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8959" y="1285885"/>
            <a:ext cx="16366080" cy="711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859" lvl="1" algn="l">
              <a:lnSpc>
                <a:spcPts val="6170"/>
              </a:lnSpc>
            </a:pP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Đạt </a:t>
            </a: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được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1616456" lvl="2" indent="-571500" algn="l">
              <a:lnSpc>
                <a:spcPts val="6170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IoT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quyết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Định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1616456" lvl="2" indent="-571500" algn="l">
              <a:lnSpc>
                <a:spcPts val="7078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chạy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luồng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ổn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tốt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91859" lvl="1" algn="l">
              <a:lnSpc>
                <a:spcPts val="6170"/>
              </a:lnSpc>
            </a:pP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Hạn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chế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1616456" lvl="2" indent="-571500" algn="l">
              <a:lnSpc>
                <a:spcPts val="6170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thuộc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Wi-Fi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616456" lvl="2" indent="-571500" algn="l">
              <a:lnSpc>
                <a:spcPts val="6170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Chưa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mất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616456" lvl="2" indent="-571500" algn="l">
              <a:lnSpc>
                <a:spcPts val="6170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thước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nguyên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mẫu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PCB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vẫn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còn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6170"/>
              </a:lnSpc>
            </a:pPr>
            <a:endParaRPr lang="en-US" sz="36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9638A-7B78-4517-6104-11CFE9AB47A2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2440" y="217843"/>
            <a:ext cx="4716760" cy="63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Hướng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phát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triển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7200" y="1074547"/>
            <a:ext cx="15204043" cy="884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758" lvl="1" algn="l">
              <a:lnSpc>
                <a:spcPts val="7185"/>
              </a:lnSpc>
            </a:pP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Device:</a:t>
            </a:r>
          </a:p>
          <a:p>
            <a:pPr marL="1616186" lvl="2" indent="-571500" algn="l">
              <a:lnSpc>
                <a:spcPts val="7185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 SIM 4G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gửi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SMS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phòng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616186" lvl="2" indent="-571500" algn="l">
              <a:lnSpc>
                <a:spcPts val="7185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khe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cắm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thẻ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nhớ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MicroSD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offline.</a:t>
            </a:r>
          </a:p>
          <a:p>
            <a:pPr marL="1616186" lvl="2" indent="-571500" algn="l">
              <a:lnSpc>
                <a:spcPts val="7185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ưu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thước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sang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dán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SMD.</a:t>
            </a:r>
          </a:p>
          <a:p>
            <a:pPr marL="1616186" lvl="2" indent="-571500" algn="l">
              <a:lnSpc>
                <a:spcPts val="7185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thiện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nhạy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sóng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GPS.</a:t>
            </a:r>
          </a:p>
          <a:p>
            <a:pPr marL="391758" lvl="1" algn="l">
              <a:lnSpc>
                <a:spcPts val="7185"/>
              </a:lnSpc>
            </a:pP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2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khác</a:t>
            </a:r>
            <a:r>
              <a:rPr lang="en-US" sz="36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1616186" lvl="2" indent="-571500" algn="l">
              <a:lnSpc>
                <a:spcPts val="7185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xế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giám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dàng</a:t>
            </a:r>
            <a:endParaRPr lang="en-US" sz="36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16186" lvl="2" indent="-571500" algn="l">
              <a:lnSpc>
                <a:spcPts val="7185"/>
              </a:lnSpc>
              <a:buFont typeface="Arial" panose="020B0604020202020204" pitchFamily="34" charset="0"/>
              <a:buChar char="•"/>
            </a:pP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36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4354"/>
              </a:lnSpc>
              <a:spcBef>
                <a:spcPct val="0"/>
              </a:spcBef>
            </a:pPr>
            <a:endParaRPr lang="en-US" sz="36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E8BC6-24E7-732A-3886-5E474B0740CA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500072" y="4407037"/>
            <a:ext cx="7683461" cy="13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90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26195" y="9765963"/>
            <a:ext cx="39319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500072" y="4407037"/>
            <a:ext cx="8130540" cy="13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90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SLIDE BỔ TRỢ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26195" y="9765963"/>
            <a:ext cx="39319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6084" y="220656"/>
            <a:ext cx="10254019" cy="63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Đối tượng khách hàng &amp; Tiêu chí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6084" y="1439084"/>
            <a:ext cx="16893303" cy="692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Đối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tượng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vụ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đưa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đón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huynh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>
              <a:lnSpc>
                <a:spcPts val="7909"/>
              </a:lnSpc>
            </a:pP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Lợi </a:t>
            </a: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ích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dành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khách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162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hàng</a:t>
            </a:r>
            <a:r>
              <a:rPr lang="en-US" sz="416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 </a:t>
            </a:r>
          </a:p>
          <a:p>
            <a:pPr marL="1020872" lvl="1" indent="-571500" algn="l">
              <a:lnSpc>
                <a:spcPts val="7909"/>
              </a:lnSpc>
              <a:buFont typeface="Arial" panose="020B0604020202020204" pitchFamily="34" charset="0"/>
              <a:buChar char="•"/>
            </a:pP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Tiết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kiệm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phí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vận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hành</a:t>
            </a:r>
            <a:endParaRPr lang="en-US" sz="41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0872" lvl="1" indent="-571500" algn="l">
              <a:lnSpc>
                <a:spcPts val="7909"/>
              </a:lnSpc>
              <a:buFont typeface="Arial" panose="020B0604020202020204" pitchFamily="34" charset="0"/>
              <a:buChar char="•"/>
            </a:pP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hiệu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endParaRPr lang="en-US" sz="41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0872" lvl="1" indent="-571500" algn="l">
              <a:lnSpc>
                <a:spcPts val="7909"/>
              </a:lnSpc>
              <a:buFont typeface="Arial" panose="020B0604020202020204" pitchFamily="34" charset="0"/>
              <a:buChar char="•"/>
            </a:pP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Đảm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bảo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bạch</a:t>
            </a:r>
            <a:endParaRPr lang="en-US" sz="41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0872" lvl="1" indent="-571500" algn="l">
              <a:lnSpc>
                <a:spcPts val="7909"/>
              </a:lnSpc>
              <a:buFont typeface="Arial" panose="020B0604020202020204" pitchFamily="34" charset="0"/>
              <a:buChar char="•"/>
            </a:pP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dàng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hoạt</a:t>
            </a:r>
            <a:endParaRPr lang="en-US" sz="41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0872" lvl="1" indent="-571500" algn="l">
              <a:lnSpc>
                <a:spcPts val="7909"/>
              </a:lnSpc>
              <a:buFont typeface="Arial" panose="020B0604020202020204" pitchFamily="34" charset="0"/>
              <a:buChar char="•"/>
            </a:pP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Nâng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trải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416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6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</a:t>
            </a:r>
            <a:endParaRPr lang="en-US" sz="41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73887-A121-E640-68E0-DC57CE22FB7B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41935" y="1410730"/>
            <a:ext cx="5990033" cy="7716811"/>
          </a:xfrm>
          <a:custGeom>
            <a:avLst/>
            <a:gdLst/>
            <a:ahLst/>
            <a:cxnLst/>
            <a:rect l="l" t="t" r="r" b="b"/>
            <a:pathLst>
              <a:path w="5990033" h="7716811">
                <a:moveTo>
                  <a:pt x="0" y="0"/>
                </a:moveTo>
                <a:lnTo>
                  <a:pt x="5990034" y="0"/>
                </a:lnTo>
                <a:lnTo>
                  <a:pt x="5990034" y="7716810"/>
                </a:lnTo>
                <a:lnTo>
                  <a:pt x="0" y="7716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8" r="-1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420282" y="1410730"/>
            <a:ext cx="6269298" cy="7716811"/>
          </a:xfrm>
          <a:custGeom>
            <a:avLst/>
            <a:gdLst/>
            <a:ahLst/>
            <a:cxnLst/>
            <a:rect l="l" t="t" r="r" b="b"/>
            <a:pathLst>
              <a:path w="6269298" h="7716811">
                <a:moveTo>
                  <a:pt x="0" y="0"/>
                </a:moveTo>
                <a:lnTo>
                  <a:pt x="6269297" y="0"/>
                </a:lnTo>
                <a:lnTo>
                  <a:pt x="6269297" y="7716810"/>
                </a:lnTo>
                <a:lnTo>
                  <a:pt x="0" y="7716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51452" y="241999"/>
            <a:ext cx="983554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Chi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phí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nguyên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mẫu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441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41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nghiệm</a:t>
            </a: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773"/>
              </a:lnSpc>
            </a:pPr>
            <a:endParaRPr lang="en-US" sz="441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287142" y="3339932"/>
            <a:ext cx="4471002" cy="3858405"/>
            <a:chOff x="0" y="0"/>
            <a:chExt cx="5961335" cy="51445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0888" cy="5135310"/>
            </a:xfrm>
            <a:custGeom>
              <a:avLst/>
              <a:gdLst/>
              <a:ahLst/>
              <a:cxnLst/>
              <a:rect l="l" t="t" r="r" b="b"/>
              <a:pathLst>
                <a:path w="3890888" h="5135310">
                  <a:moveTo>
                    <a:pt x="0" y="0"/>
                  </a:moveTo>
                  <a:lnTo>
                    <a:pt x="3890888" y="0"/>
                  </a:lnTo>
                  <a:lnTo>
                    <a:pt x="3890888" y="5135310"/>
                  </a:lnTo>
                  <a:lnTo>
                    <a:pt x="0" y="513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140" t="-1475" r="-2398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82786" y="9231"/>
              <a:ext cx="2078549" cy="5135310"/>
            </a:xfrm>
            <a:custGeom>
              <a:avLst/>
              <a:gdLst/>
              <a:ahLst/>
              <a:cxnLst/>
              <a:rect l="l" t="t" r="r" b="b"/>
              <a:pathLst>
                <a:path w="2078549" h="5135310">
                  <a:moveTo>
                    <a:pt x="0" y="0"/>
                  </a:moveTo>
                  <a:lnTo>
                    <a:pt x="2078549" y="0"/>
                  </a:lnTo>
                  <a:lnTo>
                    <a:pt x="2078549" y="5135310"/>
                  </a:lnTo>
                  <a:lnTo>
                    <a:pt x="0" y="513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90790" t="-14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3573776-FDC8-B4A7-4DBD-7E78BC4F41DA}"/>
              </a:ext>
            </a:extLst>
          </p:cNvPr>
          <p:cNvSpPr txBox="1"/>
          <p:nvPr/>
        </p:nvSpPr>
        <p:spPr>
          <a:xfrm>
            <a:off x="17547102" y="9639300"/>
            <a:ext cx="1481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2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1423</Words>
  <Application>Microsoft Office PowerPoint</Application>
  <PresentationFormat>Custom</PresentationFormat>
  <Paragraphs>204</Paragraphs>
  <Slides>25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Times New Roman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DATN</dc:title>
  <cp:lastModifiedBy>Bui Duy Khanh 20224017</cp:lastModifiedBy>
  <cp:revision>13</cp:revision>
  <dcterms:created xsi:type="dcterms:W3CDTF">2006-08-16T00:00:00Z</dcterms:created>
  <dcterms:modified xsi:type="dcterms:W3CDTF">2026-07-13T00:28:59Z</dcterms:modified>
  <dc:identifier>DAHOi8yqywY</dc:identifier>
</cp:coreProperties>
</file>