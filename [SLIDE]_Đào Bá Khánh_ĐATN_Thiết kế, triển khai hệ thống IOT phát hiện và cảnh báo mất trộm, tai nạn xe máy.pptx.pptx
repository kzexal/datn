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Times New Roman Bold" charset="1" panose="02020803070505020304"/>
      <p:regular r:id="rId34"/>
    </p:embeddedFont>
    <p:embeddedFont>
      <p:font typeface="Times New Roman" charset="1" panose="020206030504050203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56" Target="notesSlides/notesSlide22.xml" Type="http://schemas.openxmlformats.org/officeDocument/2006/relationships/notesSlide"/><Relationship Id="rId57" Target="notesSlides/notesSlide23.xml" Type="http://schemas.openxmlformats.org/officeDocument/2006/relationships/notesSlide"/><Relationship Id="rId58" Target="notesSlides/notesSlide24.xml" Type="http://schemas.openxmlformats.org/officeDocument/2006/relationships/notesSlide"/><Relationship Id="rId59" Target="notesSlides/notesSlide25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Xe máy là một ptien linh hoạt, và ptien phổ biến nhất tại VN. Với tốc độ gia tang đáng kể.</a:t>
            </a:r>
          </a:p>
          <a:p>
            <a:r>
              <a:rPr lang="en-US"/>
              <a:t>Hiệp hội các nhà sản xuất xe máy Việt Nam (VAMM)  … </a:t>
            </a:r>
          </a:p>
          <a:p>
            <a:r>
              <a:rPr lang="en-US"/>
              <a:t>Đi kèm với sự phổ biến, linh hoạt, di động đó, có rất nhiều vấn đề xoay quanh xe máy, 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VĐ1: trên thị trường có một số đơn vị có sản phẩm giải quyết, đều có những ưu, nhược điểm khác nhau</a:t>
            </a:r>
          </a:p>
          <a:p>
            <a:r>
              <a:rPr lang="en-US"/>
              <a:t>VĐ2: trên thị trg chưa có</a:t>
            </a:r>
          </a:p>
          <a:p>
            <a:r>
              <a:rPr lang="en-US"/>
              <a:t>-&gt; Cần phải phát triển 1 hệ thống có thể giải quyết đồng thời 2 vấn đề trên. </a:t>
            </a:r>
          </a:p>
          <a:p>
            <a:r>
              <a:rPr lang="en-US"/>
              <a:t>VĐ1: định vị xe, báo cơ quan chức năng.</a:t>
            </a:r>
          </a:p>
          <a:p>
            <a:r>
              <a:rPr lang="en-US"/>
              <a:t>VĐ2: định vị vị trí tai nạn, kịp thời giúp đỡ nạn nhân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Dự án to, cần có nhiều giai đoạn phát triển để thành 1 sp hoàn chỉnh.</a:t>
            </a:r>
          </a:p>
          <a:p>
            <a:r>
              <a:rPr lang="en-US"/>
              <a:t>Xác định ĐATN là gia đoạn đầu của dự án.</a:t>
            </a:r>
          </a:p>
          <a:p>
            <a:r>
              <a:rPr lang="en-US"/>
              <a:t>với gian đoạn này , mục tiêu mong muốn đạt được: 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Server – backend sử dụng firestore firebase làm database</a:t>
            </a:r>
          </a:p>
          <a:p>
            <a:r>
              <a:rPr lang="en-US"/>
              <a:t>Kế thừa từ 1 dự án startup mà em support, vì có mô hình tương tự. Chỉ config lại key của 1 số dịch vụ</a:t>
            </a:r>
          </a:p>
          <a:p>
            <a:r>
              <a:rPr lang="en-US"/>
              <a:t>Ảnh bên là luồng hoạt động chính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Server – backend sử dụng firestore firebase làm database</a:t>
            </a:r>
          </a:p>
          <a:p>
            <a:r>
              <a:rPr lang="en-US"/>
              <a:t>Kế thừa từ 1 dự án startup mà em support, vì có mô hình tương tự. Chỉ config lại key của 1 số dịch vụ</a:t>
            </a:r>
          </a:p>
          <a:p>
            <a:r>
              <a:rPr lang="en-US"/>
              <a:t>Ảnh bên là luồng hoạt động chính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DB: Dữ liệu được lưu dưới dạng các document, thuộc Collections 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MobiApp sử dụng Flutter, build 2 OS cùng 1 base code</a:t>
            </a:r>
          </a:p>
          <a:p>
            <a:r>
              <a:rPr lang="en-US"/>
              <a:t>Kiến trúc: dựa trên Bloc Pattern : tách bus khỏi UI, phân chia các repo, service xử lí data riêng</a:t>
            </a:r>
          </a:p>
          <a:p>
            <a:r>
              <a:rPr lang="en-US"/>
              <a:t>Ảnh bên là luồng hoạt động chính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MobiApp sử dụng Flutter, build 2 OS cùng 1 base code</a:t>
            </a:r>
          </a:p>
          <a:p>
            <a:r>
              <a:rPr lang="en-US"/>
              <a:t>Kiến trúc: dựa trên Bloc Pattern : tách bus khỏi UI, phân chia các repo, service xử lí data riêng</a:t>
            </a:r>
          </a:p>
          <a:p>
            <a:r>
              <a:rPr lang="en-US"/>
              <a:t>Ảnh bên là luồng hoạt động chính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Một số màn hình trong App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Trên đây là sơ đồ tổng quan của phần cứng, gồm các khối: </a:t>
            </a:r>
          </a:p>
          <a:p>
            <a:r>
              <a:rPr lang="en-US"/>
              <a:t>Ảnh bên là luồng hoạt động chính.</a:t>
            </a:r>
          </a:p>
          <a:p>
            <a:r>
              <a:rPr lang="en-US"/>
              <a:t>Phần tính toán các trạng thái cảnh báo được thực hiện ở bước… (chỉ vào), với 2 thuật toán chính: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Trên đây là sơ đồ tổng quan của phần cứng, gồm các khối: </a:t>
            </a:r>
          </a:p>
          <a:p>
            <a:r>
              <a:rPr lang="en-US"/>
              <a:t>Ảnh bên là luồng hoạt động chính.</a:t>
            </a:r>
          </a:p>
          <a:p>
            <a:r>
              <a:rPr lang="en-US"/>
              <a:t>Phần tính toán các trạng thái cảnh báo được thực hiện ở bước… (chỉ vào), với 2 thuật toán chính: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Trên đây là sơ đồ tổng quan của phần cứng, gồm các khối: </a:t>
            </a:r>
          </a:p>
          <a:p>
            <a:r>
              <a:rPr lang="en-US"/>
              <a:t>Ảnh bên là luồng hoạt động chính.</a:t>
            </a:r>
          </a:p>
          <a:p>
            <a:r>
              <a:rPr lang="en-US"/>
              <a:t>Phần tính toán các trạng thái cảnh báo được thực hiện ở bước… (chỉ vào), với 2 thuật toán chính: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4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png" Type="http://schemas.openxmlformats.org/officeDocument/2006/relationships/image"/><Relationship Id="rId4" Target="../media/image25.jpe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4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004" y="3942397"/>
            <a:ext cx="13499992" cy="278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b="true" sz="99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ĐỒ ÁN TỐT NGHIỆP CỬ NHÂN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9949" y="497072"/>
            <a:ext cx="4761547" cy="1429464"/>
            <a:chOff x="0" y="0"/>
            <a:chExt cx="6348730" cy="19059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48730" cy="1905889"/>
            </a:xfrm>
            <a:custGeom>
              <a:avLst/>
              <a:gdLst/>
              <a:ahLst/>
              <a:cxnLst/>
              <a:rect r="r" b="b" t="t" l="l"/>
              <a:pathLst>
                <a:path h="1905889" w="6348730">
                  <a:moveTo>
                    <a:pt x="0" y="0"/>
                  </a:moveTo>
                  <a:lnTo>
                    <a:pt x="6348730" y="0"/>
                  </a:lnTo>
                  <a:lnTo>
                    <a:pt x="6348730" y="1905889"/>
                  </a:lnTo>
                  <a:lnTo>
                    <a:pt x="0" y="1905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71379" y="3823678"/>
            <a:ext cx="15729455" cy="18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5"/>
              </a:lnSpc>
            </a:pPr>
            <a:r>
              <a:rPr lang="en-US" b="true" sz="6699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THIẾT BỊ GIÁM SÁT HỌC SINH LÊN XUỐNG XE BUÝT ĐƯA ĐÓN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379" y="2810570"/>
            <a:ext cx="1743432" cy="7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4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 tài: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379" y="6449949"/>
            <a:ext cx="15494689" cy="198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33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viên:  Bùi Duy Khánh	          </a:t>
            </a:r>
          </a:p>
          <a:p>
            <a:pPr algn="l">
              <a:lnSpc>
                <a:spcPts val="5303"/>
              </a:lnSpc>
            </a:pPr>
            <a:r>
              <a:rPr lang="en-US" sz="33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MSSV:       20224017</a:t>
            </a:r>
          </a:p>
          <a:p>
            <a:pPr algn="l">
              <a:lnSpc>
                <a:spcPts val="5303"/>
              </a:lnSpc>
            </a:pPr>
            <a:r>
              <a:rPr lang="en-US" sz="33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GVHD:      ThS. Đinh Thị Nhung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26195" y="98040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5057" y="1878549"/>
            <a:ext cx="11170154" cy="461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56" indent="-474978" lvl="1">
              <a:lnSpc>
                <a:spcPts val="9327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 QUAN DỰ ÁN</a:t>
            </a:r>
          </a:p>
          <a:p>
            <a:pPr algn="l" marL="949956" indent="-474978" lvl="1">
              <a:lnSpc>
                <a:spcPts val="9327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- TRIỂN KHAI HỆ THỐNG</a:t>
            </a:r>
          </a:p>
          <a:p>
            <a:pPr algn="l" marL="949956" indent="-474978" lvl="1">
              <a:lnSpc>
                <a:spcPts val="9327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- ĐÁNH GIÁ</a:t>
            </a:r>
          </a:p>
          <a:p>
            <a:pPr algn="l" marL="949956" indent="-474978" lvl="1">
              <a:lnSpc>
                <a:spcPts val="9327"/>
              </a:lnSpc>
              <a:buAutoNum type="arabicPeriod" startAt="1"/>
            </a:pPr>
            <a:r>
              <a:rPr lang="en-US" b="true" sz="4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 - HƯỚNG PHÁT TRIỂN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424" y="-142875"/>
            <a:ext cx="9137452" cy="94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0"/>
              </a:lnSpc>
              <a:spcBef>
                <a:spcPct val="0"/>
              </a:spcBef>
            </a:pPr>
            <a:r>
              <a:rPr lang="en-US" b="true" sz="442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NỘI DUNG TRÌNH BÀY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004" y="3942397"/>
            <a:ext cx="13499992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b="true" sz="99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 QUAN DỰ ÁN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3906" y="-3258998"/>
            <a:ext cx="9572635" cy="1351436"/>
            <a:chOff x="0" y="0"/>
            <a:chExt cx="12763513" cy="18019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63500" cy="1801876"/>
            </a:xfrm>
            <a:custGeom>
              <a:avLst/>
              <a:gdLst/>
              <a:ahLst/>
              <a:cxnLst/>
              <a:rect r="r" b="b" t="t" l="l"/>
              <a:pathLst>
                <a:path h="1801876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1801876"/>
                  </a:lnTo>
                  <a:lnTo>
                    <a:pt x="0" y="1801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803" b="-5284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11739" y="-3055353"/>
            <a:ext cx="7562355" cy="1340596"/>
            <a:chOff x="0" y="0"/>
            <a:chExt cx="10083140" cy="17874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83165" cy="1787398"/>
            </a:xfrm>
            <a:custGeom>
              <a:avLst/>
              <a:gdLst/>
              <a:ahLst/>
              <a:cxnLst/>
              <a:rect r="r" b="b" t="t" l="l"/>
              <a:pathLst>
                <a:path h="1787398" w="10083165">
                  <a:moveTo>
                    <a:pt x="0" y="0"/>
                  </a:moveTo>
                  <a:lnTo>
                    <a:pt x="10083165" y="0"/>
                  </a:lnTo>
                  <a:lnTo>
                    <a:pt x="10083165" y="1787398"/>
                  </a:lnTo>
                  <a:lnTo>
                    <a:pt x="0" y="1787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52653" b="-6768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5717" y="-1742961"/>
            <a:ext cx="6953250" cy="1409700"/>
            <a:chOff x="0" y="0"/>
            <a:chExt cx="9271000" cy="187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710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879600"/>
                  </a:lnTo>
                  <a:lnTo>
                    <a:pt x="0" y="187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498943">
            <a:off x="355686" y="7027292"/>
            <a:ext cx="2836735" cy="851020"/>
          </a:xfrm>
          <a:custGeom>
            <a:avLst/>
            <a:gdLst/>
            <a:ahLst/>
            <a:cxnLst/>
            <a:rect r="r" b="b" t="t" l="l"/>
            <a:pathLst>
              <a:path h="851020" w="2836735">
                <a:moveTo>
                  <a:pt x="0" y="0"/>
                </a:moveTo>
                <a:lnTo>
                  <a:pt x="2836735" y="0"/>
                </a:lnTo>
                <a:lnTo>
                  <a:pt x="2836735" y="851020"/>
                </a:lnTo>
                <a:lnTo>
                  <a:pt x="0" y="8510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058" y="129102"/>
            <a:ext cx="4507568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73"/>
              </a:lnSpc>
              <a:spcBef>
                <a:spcPct val="0"/>
              </a:spcBef>
            </a:pPr>
            <a:r>
              <a:rPr lang="en-US" b="true" sz="4419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Đặt vấn đề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608" y="1079639"/>
            <a:ext cx="15731363" cy="350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2008" indent="-421004" lvl="1">
              <a:lnSpc>
                <a:spcPts val="7019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Bị bỏ quên trên xe buýt đưa đón.</a:t>
            </a:r>
          </a:p>
          <a:p>
            <a:pPr algn="just" marL="842008" indent="-421004" lvl="1">
              <a:lnSpc>
                <a:spcPts val="7019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Điểm danh thủ công dễ sai sót khi số lượng học sinh đông.</a:t>
            </a:r>
          </a:p>
          <a:p>
            <a:pPr algn="just" marL="842008" indent="-421004" lvl="1">
              <a:lnSpc>
                <a:spcPts val="7019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Phụ huynh thiếu thông tin để kiểm soát.</a:t>
            </a:r>
          </a:p>
          <a:p>
            <a:pPr algn="just">
              <a:lnSpc>
                <a:spcPts val="701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391542" y="6344091"/>
            <a:ext cx="14366601" cy="194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1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CẦ</a:t>
            </a:r>
            <a:r>
              <a:rPr lang="en-US" b="true" sz="4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 HỆ THỐNG TỰ ĐỘNG ĐIỂM DANH VÀ CẢNH BÁO VỊ TRÍ TỨC THỜI.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96676" y="2239763"/>
            <a:ext cx="10055225" cy="5807473"/>
          </a:xfrm>
          <a:custGeom>
            <a:avLst/>
            <a:gdLst/>
            <a:ahLst/>
            <a:cxnLst/>
            <a:rect r="r" b="b" t="t" l="l"/>
            <a:pathLst>
              <a:path h="5807473" w="10055225">
                <a:moveTo>
                  <a:pt x="0" y="0"/>
                </a:moveTo>
                <a:lnTo>
                  <a:pt x="10055226" y="0"/>
                </a:lnTo>
                <a:lnTo>
                  <a:pt x="10055226" y="5807474"/>
                </a:lnTo>
                <a:lnTo>
                  <a:pt x="0" y="58074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365" y="1325328"/>
            <a:ext cx="8719951" cy="3454245"/>
            <a:chOff x="0" y="0"/>
            <a:chExt cx="11626601" cy="460566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26601" cy="4605660"/>
              <a:chOff x="0" y="0"/>
              <a:chExt cx="2296612" cy="90976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96613" cy="909760"/>
              </a:xfrm>
              <a:custGeom>
                <a:avLst/>
                <a:gdLst/>
                <a:ahLst/>
                <a:cxnLst/>
                <a:rect r="r" b="b" t="t" l="l"/>
                <a:pathLst>
                  <a:path h="909760" w="2296613">
                    <a:moveTo>
                      <a:pt x="15093" y="0"/>
                    </a:moveTo>
                    <a:lnTo>
                      <a:pt x="2281519" y="0"/>
                    </a:lnTo>
                    <a:cubicBezTo>
                      <a:pt x="2289855" y="0"/>
                      <a:pt x="2296613" y="6757"/>
                      <a:pt x="2296613" y="15093"/>
                    </a:cubicBezTo>
                    <a:lnTo>
                      <a:pt x="2296613" y="894667"/>
                    </a:lnTo>
                    <a:cubicBezTo>
                      <a:pt x="2296613" y="903002"/>
                      <a:pt x="2289855" y="909760"/>
                      <a:pt x="2281519" y="909760"/>
                    </a:cubicBezTo>
                    <a:lnTo>
                      <a:pt x="15093" y="909760"/>
                    </a:lnTo>
                    <a:cubicBezTo>
                      <a:pt x="11090" y="909760"/>
                      <a:pt x="7251" y="908170"/>
                      <a:pt x="4421" y="905339"/>
                    </a:cubicBezTo>
                    <a:cubicBezTo>
                      <a:pt x="1590" y="902509"/>
                      <a:pt x="0" y="898670"/>
                      <a:pt x="0" y="894667"/>
                    </a:cubicBezTo>
                    <a:lnTo>
                      <a:pt x="0" y="15093"/>
                    </a:lnTo>
                    <a:cubicBezTo>
                      <a:pt x="0" y="11090"/>
                      <a:pt x="1590" y="7251"/>
                      <a:pt x="4421" y="4421"/>
                    </a:cubicBezTo>
                    <a:cubicBezTo>
                      <a:pt x="7251" y="1590"/>
                      <a:pt x="11090" y="0"/>
                      <a:pt x="150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2296612" cy="928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7476059" y="857245"/>
              <a:ext cx="4150541" cy="3559494"/>
            </a:xfrm>
            <a:custGeom>
              <a:avLst/>
              <a:gdLst/>
              <a:ahLst/>
              <a:cxnLst/>
              <a:rect r="r" b="b" t="t" l="l"/>
              <a:pathLst>
                <a:path h="3559494" w="4150541">
                  <a:moveTo>
                    <a:pt x="0" y="0"/>
                  </a:moveTo>
                  <a:lnTo>
                    <a:pt x="4150542" y="0"/>
                  </a:lnTo>
                  <a:lnTo>
                    <a:pt x="4150542" y="3559494"/>
                  </a:lnTo>
                  <a:lnTo>
                    <a:pt x="0" y="355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115" r="0" b="-91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283706"/>
              <a:ext cx="11626601" cy="956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1"/>
                </a:lnSpc>
                <a:spcBef>
                  <a:spcPct val="0"/>
                </a:spcBef>
              </a:pP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Điểm danh thủ công (Sổ sách/Giám thị)</a:t>
              </a:r>
            </a:p>
            <a:p>
              <a:pPr algn="ctr">
                <a:lnSpc>
                  <a:spcPts val="2721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49313"/>
              <a:ext cx="7476059" cy="2784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4078" indent="-272039" lvl="1">
                <a:lnSpc>
                  <a:spcPts val="27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Ưu đ</a:t>
              </a: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iểm: Không tốn chi phí trang thiết bị.</a:t>
              </a:r>
            </a:p>
            <a:p>
              <a:pPr algn="l" marL="544078" indent="-272039" lvl="1">
                <a:lnSpc>
                  <a:spcPts val="27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Nhược điểm: Rất dễ sai sót khi đông học sinh. Phụ huynh bị động, không thể theo dõi.</a:t>
              </a:r>
            </a:p>
            <a:p>
              <a:pPr algn="l">
                <a:lnSpc>
                  <a:spcPts val="27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685057"/>
            <a:ext cx="9144000" cy="4960941"/>
            <a:chOff x="0" y="0"/>
            <a:chExt cx="12192000" cy="661458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853694"/>
              <a:ext cx="11939622" cy="4614587"/>
              <a:chOff x="0" y="0"/>
              <a:chExt cx="2358444" cy="91152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58444" cy="911523"/>
              </a:xfrm>
              <a:custGeom>
                <a:avLst/>
                <a:gdLst/>
                <a:ahLst/>
                <a:cxnLst/>
                <a:rect r="r" b="b" t="t" l="l"/>
                <a:pathLst>
                  <a:path h="911523" w="2358444">
                    <a:moveTo>
                      <a:pt x="14698" y="0"/>
                    </a:moveTo>
                    <a:lnTo>
                      <a:pt x="2343746" y="0"/>
                    </a:lnTo>
                    <a:cubicBezTo>
                      <a:pt x="2347644" y="0"/>
                      <a:pt x="2351383" y="1548"/>
                      <a:pt x="2354139" y="4305"/>
                    </a:cubicBezTo>
                    <a:cubicBezTo>
                      <a:pt x="2356895" y="7061"/>
                      <a:pt x="2358444" y="10800"/>
                      <a:pt x="2358444" y="14698"/>
                    </a:cubicBezTo>
                    <a:lnTo>
                      <a:pt x="2358444" y="896826"/>
                    </a:lnTo>
                    <a:cubicBezTo>
                      <a:pt x="2358444" y="900724"/>
                      <a:pt x="2356895" y="904462"/>
                      <a:pt x="2354139" y="907219"/>
                    </a:cubicBezTo>
                    <a:cubicBezTo>
                      <a:pt x="2351383" y="909975"/>
                      <a:pt x="2347644" y="911523"/>
                      <a:pt x="2343746" y="911523"/>
                    </a:cubicBezTo>
                    <a:lnTo>
                      <a:pt x="14698" y="911523"/>
                    </a:lnTo>
                    <a:cubicBezTo>
                      <a:pt x="10800" y="911523"/>
                      <a:pt x="7061" y="909975"/>
                      <a:pt x="4305" y="907219"/>
                    </a:cubicBezTo>
                    <a:cubicBezTo>
                      <a:pt x="1548" y="904462"/>
                      <a:pt x="0" y="900724"/>
                      <a:pt x="0" y="896826"/>
                    </a:cubicBezTo>
                    <a:lnTo>
                      <a:pt x="0" y="14698"/>
                    </a:lnTo>
                    <a:cubicBezTo>
                      <a:pt x="0" y="10800"/>
                      <a:pt x="1548" y="7061"/>
                      <a:pt x="4305" y="4305"/>
                    </a:cubicBezTo>
                    <a:cubicBezTo>
                      <a:pt x="7061" y="1548"/>
                      <a:pt x="10800" y="0"/>
                      <a:pt x="14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2358444" cy="930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080943"/>
              <a:ext cx="11939622" cy="498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1"/>
                </a:lnSpc>
                <a:spcBef>
                  <a:spcPct val="0"/>
                </a:spcBef>
              </a:pP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Máy quẹt thẻ k</a:t>
              </a: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iểm soát cửa/chấm công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704501"/>
              <a:ext cx="5969811" cy="3242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4078" indent="-272039" lvl="1">
                <a:lnSpc>
                  <a:spcPts val="27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Ưu đ</a:t>
              </a: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iểm: Nhận diện thẻ RFID/Vân tay rất tốt, hoạt động bền bỉ.</a:t>
              </a:r>
            </a:p>
            <a:p>
              <a:pPr algn="l" marL="544078" indent="-272039" lvl="1">
                <a:lnSpc>
                  <a:spcPts val="2721"/>
                </a:lnSpc>
                <a:buFont typeface="Arial"/>
                <a:buChar char="•"/>
              </a:pPr>
              <a:r>
                <a:rPr lang="en-US" b="true" sz="252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Nhược điểm: Thiết kế cho vị trí cố định (tòa nhà). Không có GPS nên không cung cấp được vị trí xe. 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5577413" y="0"/>
              <a:ext cx="6614587" cy="6614587"/>
            </a:xfrm>
            <a:custGeom>
              <a:avLst/>
              <a:gdLst/>
              <a:ahLst/>
              <a:cxnLst/>
              <a:rect r="r" b="b" t="t" l="l"/>
              <a:pathLst>
                <a:path h="6614587" w="6614587">
                  <a:moveTo>
                    <a:pt x="0" y="0"/>
                  </a:moveTo>
                  <a:lnTo>
                    <a:pt x="6614587" y="0"/>
                  </a:lnTo>
                  <a:lnTo>
                    <a:pt x="6614587" y="6614587"/>
                  </a:lnTo>
                  <a:lnTo>
                    <a:pt x="0" y="6614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287759" y="3283327"/>
            <a:ext cx="10142143" cy="6501686"/>
            <a:chOff x="0" y="0"/>
            <a:chExt cx="13522857" cy="866891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2252604"/>
              <a:ext cx="12881268" cy="5676467"/>
              <a:chOff x="0" y="0"/>
              <a:chExt cx="2296612" cy="101206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96613" cy="1012062"/>
              </a:xfrm>
              <a:custGeom>
                <a:avLst/>
                <a:gdLst/>
                <a:ahLst/>
                <a:cxnLst/>
                <a:rect r="r" b="b" t="t" l="l"/>
                <a:pathLst>
                  <a:path h="1012062" w="2296613">
                    <a:moveTo>
                      <a:pt x="15093" y="0"/>
                    </a:moveTo>
                    <a:lnTo>
                      <a:pt x="2281519" y="0"/>
                    </a:lnTo>
                    <a:cubicBezTo>
                      <a:pt x="2289855" y="0"/>
                      <a:pt x="2296613" y="6757"/>
                      <a:pt x="2296613" y="15093"/>
                    </a:cubicBezTo>
                    <a:lnTo>
                      <a:pt x="2296613" y="996969"/>
                    </a:lnTo>
                    <a:cubicBezTo>
                      <a:pt x="2296613" y="1000972"/>
                      <a:pt x="2295022" y="1004811"/>
                      <a:pt x="2292192" y="1007642"/>
                    </a:cubicBezTo>
                    <a:cubicBezTo>
                      <a:pt x="2289361" y="1010472"/>
                      <a:pt x="2285522" y="1012062"/>
                      <a:pt x="2281519" y="1012062"/>
                    </a:cubicBezTo>
                    <a:lnTo>
                      <a:pt x="15093" y="1012062"/>
                    </a:lnTo>
                    <a:cubicBezTo>
                      <a:pt x="6757" y="1012062"/>
                      <a:pt x="0" y="1005305"/>
                      <a:pt x="0" y="996969"/>
                    </a:cubicBezTo>
                    <a:lnTo>
                      <a:pt x="0" y="15093"/>
                    </a:lnTo>
                    <a:cubicBezTo>
                      <a:pt x="0" y="11090"/>
                      <a:pt x="1590" y="7251"/>
                      <a:pt x="4421" y="4421"/>
                    </a:cubicBezTo>
                    <a:cubicBezTo>
                      <a:pt x="7251" y="1590"/>
                      <a:pt x="11090" y="0"/>
                      <a:pt x="150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2296612" cy="10311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565897"/>
              <a:ext cx="12881268" cy="553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5"/>
                </a:lnSpc>
                <a:spcBef>
                  <a:spcPct val="0"/>
                </a:spcBef>
              </a:pPr>
              <a:r>
                <a:rPr lang="en-US" b="true" sz="279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</a:t>
              </a:r>
              <a:r>
                <a:rPr lang="en-US" b="true" sz="279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iải pháp của đồ án (Thiết bị SBAS-32)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635707"/>
              <a:ext cx="8282827" cy="4606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2791" indent="-301396" lvl="1">
                <a:lnSpc>
                  <a:spcPts val="30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Ưu đ</a:t>
              </a:r>
              <a:r>
                <a:rPr lang="en-US" b="true" sz="279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iểm: Tích hợp 2 trong 1: Định danh (RFID) + Định vị (GPS). Cơ động cho xe buýt, thông báo tọa độ tức thời qua Telegram. Chi phí linh kiện thấp (~600k VNĐ).</a:t>
              </a:r>
            </a:p>
            <a:p>
              <a:pPr algn="l" marL="602791" indent="-301396" lvl="1">
                <a:lnSpc>
                  <a:spcPts val="301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9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Nhược điểm: Đang ở bản nguyên mẫu, phụ thuộc vào kết nối Wi-Fi di động.</a:t>
              </a:r>
            </a:p>
            <a:p>
              <a:pPr algn="l">
                <a:lnSpc>
                  <a:spcPts val="3015"/>
                </a:lnSpc>
                <a:spcBef>
                  <a:spcPct val="0"/>
                </a:spcBef>
              </a:pP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8635756" y="0"/>
              <a:ext cx="4887101" cy="8668915"/>
            </a:xfrm>
            <a:custGeom>
              <a:avLst/>
              <a:gdLst/>
              <a:ahLst/>
              <a:cxnLst/>
              <a:rect r="r" b="b" t="t" l="l"/>
              <a:pathLst>
                <a:path h="8668915" w="4887101">
                  <a:moveTo>
                    <a:pt x="0" y="0"/>
                  </a:moveTo>
                  <a:lnTo>
                    <a:pt x="4887101" y="0"/>
                  </a:lnTo>
                  <a:lnTo>
                    <a:pt x="4887101" y="8668915"/>
                  </a:lnTo>
                  <a:lnTo>
                    <a:pt x="0" y="8668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8365" y="205819"/>
            <a:ext cx="11780282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 sánh với các giải pháp đang có trên thị trường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98069"/>
            <a:ext cx="7562374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Mục tiêu của đồ án tốt nghiệp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3368" y="1117007"/>
            <a:ext cx="17414775" cy="370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5"/>
              </a:lnSpc>
            </a:pPr>
            <a:r>
              <a:rPr lang="en-US" sz="364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hệ thống IOT có khả năng </a:t>
            </a:r>
            <a:r>
              <a:rPr lang="en-US" b="true" sz="3645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phát hiện </a:t>
            </a:r>
            <a:r>
              <a:rPr lang="en-US" sz="364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</a:t>
            </a:r>
            <a:r>
              <a:rPr lang="en-US" b="true" sz="3645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thông báo</a:t>
            </a:r>
            <a:r>
              <a:rPr lang="en-US" sz="364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thời gian thực:</a:t>
            </a:r>
          </a:p>
          <a:p>
            <a:pPr algn="l" marL="786973" indent="-393487" lvl="1">
              <a:lnSpc>
                <a:spcPts val="7435"/>
              </a:lnSpc>
              <a:buFont typeface="Arial"/>
              <a:buChar char="•"/>
            </a:pPr>
            <a:r>
              <a:rPr lang="en-US" sz="364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 sinh lên/xuống xe (Nhận diện thẻ).</a:t>
            </a:r>
          </a:p>
          <a:p>
            <a:pPr algn="l" marL="786973" indent="-393487" lvl="1">
              <a:lnSpc>
                <a:spcPts val="7435"/>
              </a:lnSpc>
              <a:buFont typeface="Arial"/>
              <a:buChar char="•"/>
            </a:pPr>
            <a:r>
              <a:rPr lang="en-US" sz="364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hành trình của xe buýt (Định vị toàn cầu).</a:t>
            </a:r>
          </a:p>
          <a:p>
            <a:pPr algn="l">
              <a:lnSpc>
                <a:spcPts val="743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0981" y="3942397"/>
            <a:ext cx="15186038" cy="278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b="true" sz="99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- TRIỂN KHAI HỆ THỐNG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423" y="1339502"/>
            <a:ext cx="13550396" cy="6916358"/>
          </a:xfrm>
          <a:custGeom>
            <a:avLst/>
            <a:gdLst/>
            <a:ahLst/>
            <a:cxnLst/>
            <a:rect r="r" b="b" t="t" l="l"/>
            <a:pathLst>
              <a:path h="6916358" w="13550396">
                <a:moveTo>
                  <a:pt x="0" y="0"/>
                </a:moveTo>
                <a:lnTo>
                  <a:pt x="13550396" y="0"/>
                </a:lnTo>
                <a:lnTo>
                  <a:pt x="13550396" y="6916359"/>
                </a:lnTo>
                <a:lnTo>
                  <a:pt x="0" y="6916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" r="0" b="-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15" y="8566621"/>
            <a:ext cx="466582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</a:t>
            </a:r>
            <a:r>
              <a:rPr lang="en-US" b="true" sz="2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ơ đồ tổng quan của hệ thống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7423" y="1309266"/>
            <a:ext cx="14937488" cy="7599447"/>
          </a:xfrm>
          <a:custGeom>
            <a:avLst/>
            <a:gdLst/>
            <a:ahLst/>
            <a:cxnLst/>
            <a:rect r="r" b="b" t="t" l="l"/>
            <a:pathLst>
              <a:path h="7599447" w="14937488">
                <a:moveTo>
                  <a:pt x="0" y="0"/>
                </a:moveTo>
                <a:lnTo>
                  <a:pt x="14937488" y="0"/>
                </a:lnTo>
                <a:lnTo>
                  <a:pt x="14937488" y="7599447"/>
                </a:lnTo>
                <a:lnTo>
                  <a:pt x="0" y="7599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1335" y="8889663"/>
            <a:ext cx="550533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b="true" sz="2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Luồng hoạt động chính của thiết bị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8064" y="1298732"/>
            <a:ext cx="11588046" cy="7959568"/>
          </a:xfrm>
          <a:custGeom>
            <a:avLst/>
            <a:gdLst/>
            <a:ahLst/>
            <a:cxnLst/>
            <a:rect r="r" b="b" t="t" l="l"/>
            <a:pathLst>
              <a:path h="7959568" w="11588046">
                <a:moveTo>
                  <a:pt x="0" y="0"/>
                </a:moveTo>
                <a:lnTo>
                  <a:pt x="11588047" y="0"/>
                </a:lnTo>
                <a:lnTo>
                  <a:pt x="11588047" y="7959568"/>
                </a:lnTo>
                <a:lnTo>
                  <a:pt x="0" y="795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20822"/>
            <a:ext cx="1172272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3"/>
              </a:lnSpc>
              <a:spcBef>
                <a:spcPct val="0"/>
              </a:spcBef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Dev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ice - Tổng quan &amp; Luồng hoạt động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7519" y="1716674"/>
            <a:ext cx="20875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8"/>
              </a:lnSpc>
              <a:spcBef>
                <a:spcPct val="0"/>
              </a:spcBef>
            </a:pPr>
            <a:r>
              <a:rPr lang="en-US" b="true" sz="24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</a:t>
            </a:r>
            <a:r>
              <a:rPr lang="en-US" b="true" sz="24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ơ đồ nguyên lý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70722" y="1264946"/>
            <a:ext cx="4318734" cy="4156528"/>
          </a:xfrm>
          <a:custGeom>
            <a:avLst/>
            <a:gdLst/>
            <a:ahLst/>
            <a:cxnLst/>
            <a:rect r="r" b="b" t="t" l="l"/>
            <a:pathLst>
              <a:path h="4156528" w="4318734">
                <a:moveTo>
                  <a:pt x="0" y="0"/>
                </a:moveTo>
                <a:lnTo>
                  <a:pt x="4318733" y="0"/>
                </a:lnTo>
                <a:lnTo>
                  <a:pt x="4318733" y="4156528"/>
                </a:lnTo>
                <a:lnTo>
                  <a:pt x="0" y="4156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39158" y="1264946"/>
            <a:ext cx="4286419" cy="4156528"/>
          </a:xfrm>
          <a:custGeom>
            <a:avLst/>
            <a:gdLst/>
            <a:ahLst/>
            <a:cxnLst/>
            <a:rect r="r" b="b" t="t" l="l"/>
            <a:pathLst>
              <a:path h="4156528" w="4286419">
                <a:moveTo>
                  <a:pt x="0" y="0"/>
                </a:moveTo>
                <a:lnTo>
                  <a:pt x="4286419" y="0"/>
                </a:lnTo>
                <a:lnTo>
                  <a:pt x="4286419" y="4156528"/>
                </a:lnTo>
                <a:lnTo>
                  <a:pt x="0" y="415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65246" y="5521760"/>
            <a:ext cx="4082848" cy="4012010"/>
          </a:xfrm>
          <a:custGeom>
            <a:avLst/>
            <a:gdLst/>
            <a:ahLst/>
            <a:cxnLst/>
            <a:rect r="r" b="b" t="t" l="l"/>
            <a:pathLst>
              <a:path h="4012010" w="4082848">
                <a:moveTo>
                  <a:pt x="0" y="0"/>
                </a:moveTo>
                <a:lnTo>
                  <a:pt x="4082848" y="0"/>
                </a:lnTo>
                <a:lnTo>
                  <a:pt x="4082848" y="4012010"/>
                </a:lnTo>
                <a:lnTo>
                  <a:pt x="0" y="4012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05269" y="5421474"/>
            <a:ext cx="4616742" cy="4212582"/>
          </a:xfrm>
          <a:custGeom>
            <a:avLst/>
            <a:gdLst/>
            <a:ahLst/>
            <a:cxnLst/>
            <a:rect r="r" b="b" t="t" l="l"/>
            <a:pathLst>
              <a:path h="4212582" w="4616742">
                <a:moveTo>
                  <a:pt x="0" y="0"/>
                </a:moveTo>
                <a:lnTo>
                  <a:pt x="4616741" y="0"/>
                </a:lnTo>
                <a:lnTo>
                  <a:pt x="4616741" y="4212582"/>
                </a:lnTo>
                <a:lnTo>
                  <a:pt x="0" y="4212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60110" y="5596657"/>
            <a:ext cx="3223326" cy="3937113"/>
          </a:xfrm>
          <a:custGeom>
            <a:avLst/>
            <a:gdLst/>
            <a:ahLst/>
            <a:cxnLst/>
            <a:rect r="r" b="b" t="t" l="l"/>
            <a:pathLst>
              <a:path h="3937113" w="3223326">
                <a:moveTo>
                  <a:pt x="0" y="0"/>
                </a:moveTo>
                <a:lnTo>
                  <a:pt x="3223326" y="0"/>
                </a:lnTo>
                <a:lnTo>
                  <a:pt x="3223326" y="3937113"/>
                </a:lnTo>
                <a:lnTo>
                  <a:pt x="0" y="39371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45" t="0" r="-254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50111" y="5327115"/>
            <a:ext cx="3402373" cy="4476196"/>
          </a:xfrm>
          <a:custGeom>
            <a:avLst/>
            <a:gdLst/>
            <a:ahLst/>
            <a:cxnLst/>
            <a:rect r="r" b="b" t="t" l="l"/>
            <a:pathLst>
              <a:path h="4476196" w="3402373">
                <a:moveTo>
                  <a:pt x="0" y="0"/>
                </a:moveTo>
                <a:lnTo>
                  <a:pt x="3402373" y="0"/>
                </a:lnTo>
                <a:lnTo>
                  <a:pt x="3402373" y="4476197"/>
                </a:lnTo>
                <a:lnTo>
                  <a:pt x="0" y="44761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954" t="0" r="-395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9050"/>
            <a:ext cx="1182943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3"/>
              </a:lnSpc>
              <a:spcBef>
                <a:spcPct val="0"/>
              </a:spcBef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Dev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ice - Tổng quan &amp; Luồng hoạt động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585" y="1345969"/>
            <a:ext cx="210648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8"/>
              </a:lnSpc>
            </a:pPr>
            <a:r>
              <a:rPr lang="en-US" sz="241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</a:t>
            </a:r>
            <a:r>
              <a:rPr lang="en-US" sz="241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ạch in và hộp phần cứng </a:t>
            </a:r>
          </a:p>
          <a:p>
            <a:pPr algn="just">
              <a:lnSpc>
                <a:spcPts val="2898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14623" y="-1817402"/>
            <a:ext cx="4675148" cy="8292946"/>
          </a:xfrm>
          <a:custGeom>
            <a:avLst/>
            <a:gdLst/>
            <a:ahLst/>
            <a:cxnLst/>
            <a:rect r="r" b="b" t="t" l="l"/>
            <a:pathLst>
              <a:path h="8292946" w="4675148">
                <a:moveTo>
                  <a:pt x="0" y="0"/>
                </a:moveTo>
                <a:lnTo>
                  <a:pt x="4675148" y="0"/>
                </a:lnTo>
                <a:lnTo>
                  <a:pt x="4675148" y="8292945"/>
                </a:lnTo>
                <a:lnTo>
                  <a:pt x="0" y="82929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572" y="1341201"/>
            <a:ext cx="9698182" cy="12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75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Realtime Database:</a:t>
            </a:r>
          </a:p>
          <a:p>
            <a:pPr algn="l" marL="594782" indent="-297391" lvl="1">
              <a:lnSpc>
                <a:spcPts val="3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Đóng va</a:t>
            </a: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 trò Database trung tâm của hệ thống.</a:t>
            </a:r>
          </a:p>
          <a:p>
            <a:pPr algn="l" marL="594782" indent="-297391" lvl="1">
              <a:lnSpc>
                <a:spcPts val="33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Cập nhật trạng thái (In/Out) theo thời gian thực dạng JSON.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537397" y="2670526"/>
            <a:ext cx="15750603" cy="6639417"/>
          </a:xfrm>
          <a:custGeom>
            <a:avLst/>
            <a:gdLst/>
            <a:ahLst/>
            <a:cxnLst/>
            <a:rect r="r" b="b" t="t" l="l"/>
            <a:pathLst>
              <a:path h="6639417" w="15750603">
                <a:moveTo>
                  <a:pt x="0" y="0"/>
                </a:moveTo>
                <a:lnTo>
                  <a:pt x="15750603" y="0"/>
                </a:lnTo>
                <a:lnTo>
                  <a:pt x="15750603" y="6639417"/>
                </a:lnTo>
                <a:lnTo>
                  <a:pt x="0" y="663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572" y="220656"/>
            <a:ext cx="8340686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Database &amp; Telegram Bot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26195" y="1209334"/>
            <a:ext cx="4262218" cy="7595993"/>
            <a:chOff x="0" y="0"/>
            <a:chExt cx="5682957" cy="10127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2957" cy="10127991"/>
            </a:xfrm>
            <a:custGeom>
              <a:avLst/>
              <a:gdLst/>
              <a:ahLst/>
              <a:cxnLst/>
              <a:rect r="r" b="b" t="t" l="l"/>
              <a:pathLst>
                <a:path h="10127991" w="5682957">
                  <a:moveTo>
                    <a:pt x="0" y="0"/>
                  </a:moveTo>
                  <a:lnTo>
                    <a:pt x="5682957" y="0"/>
                  </a:lnTo>
                  <a:lnTo>
                    <a:pt x="5682957" y="10127991"/>
                  </a:lnTo>
                  <a:lnTo>
                    <a:pt x="0" y="1012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469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8905408"/>
              <a:ext cx="5682957" cy="1222583"/>
            </a:xfrm>
            <a:custGeom>
              <a:avLst/>
              <a:gdLst/>
              <a:ahLst/>
              <a:cxnLst/>
              <a:rect r="r" b="b" t="t" l="l"/>
              <a:pathLst>
                <a:path h="1222583" w="5682957">
                  <a:moveTo>
                    <a:pt x="0" y="0"/>
                  </a:moveTo>
                  <a:lnTo>
                    <a:pt x="5682957" y="0"/>
                  </a:lnTo>
                  <a:lnTo>
                    <a:pt x="5682957" y="1222583"/>
                  </a:lnTo>
                  <a:lnTo>
                    <a:pt x="0" y="1222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22" t="-995405" r="-302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27404" y="1209334"/>
            <a:ext cx="7839618" cy="7405943"/>
          </a:xfrm>
          <a:custGeom>
            <a:avLst/>
            <a:gdLst/>
            <a:ahLst/>
            <a:cxnLst/>
            <a:rect r="r" b="b" t="t" l="l"/>
            <a:pathLst>
              <a:path h="7405943" w="7839618">
                <a:moveTo>
                  <a:pt x="0" y="0"/>
                </a:moveTo>
                <a:lnTo>
                  <a:pt x="7839618" y="0"/>
                </a:lnTo>
                <a:lnTo>
                  <a:pt x="7839618" y="7405943"/>
                </a:lnTo>
                <a:lnTo>
                  <a:pt x="0" y="7405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9" t="0" r="-102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572" y="1125216"/>
            <a:ext cx="6246867" cy="475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7"/>
              </a:lnSpc>
            </a:pP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Telegram Bot API:</a:t>
            </a:r>
          </a:p>
          <a:p>
            <a:pPr algn="l" marL="594781" indent="-297391" lvl="1">
              <a:lnSpc>
                <a:spcPts val="5427"/>
              </a:lnSpc>
              <a:buFont typeface="Arial"/>
              <a:buChar char="•"/>
            </a:pP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Đóng vai trò liên lạc giữa phụ huynh và thiết bị. </a:t>
            </a:r>
          </a:p>
          <a:p>
            <a:pPr algn="l" marL="594781" indent="-297391" lvl="1">
              <a:lnSpc>
                <a:spcPts val="5427"/>
              </a:lnSpc>
              <a:buFont typeface="Arial"/>
              <a:buChar char="•"/>
            </a:pP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Thông báo cho phụ huynh về thông tin học sinh lên xuống xe.</a:t>
            </a:r>
          </a:p>
          <a:p>
            <a:pPr algn="l" marL="594781" indent="-297391" lvl="1">
              <a:lnSpc>
                <a:spcPts val="5427"/>
              </a:lnSpc>
              <a:buFont typeface="Arial"/>
              <a:buChar char="•"/>
            </a:pPr>
            <a:r>
              <a:rPr lang="en-US" b="true" sz="27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Phản hồi khi nhận được yêu cầu vị trí của phụ huynh.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572" y="220656"/>
            <a:ext cx="8340686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Database &amp; Telegram Bot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004" y="3942397"/>
            <a:ext cx="13499992" cy="414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99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- ĐÁNH GIÁ</a:t>
            </a:r>
          </a:p>
          <a:p>
            <a:pPr algn="ctr">
              <a:lnSpc>
                <a:spcPts val="1069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9948" y="251003"/>
            <a:ext cx="4237434" cy="52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 thử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137999"/>
            <a:ext cx="18048286" cy="503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29" indent="-371364" lvl="1">
              <a:lnSpc>
                <a:spcPts val="6742"/>
              </a:lnSpc>
              <a:buFont typeface="Arial"/>
              <a:buChar char="•"/>
            </a:pPr>
            <a:r>
              <a:rPr lang="en-US" b="true" sz="34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Điều kiện 1: </a:t>
            </a:r>
            <a:r>
              <a:rPr lang="en-US" sz="3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di chuyển thực tế, thiết bị được đặt chỗ thoáng không bị cản sóng ăng ten GPS, có sóng Wi-Fi ổn định.</a:t>
            </a:r>
          </a:p>
          <a:p>
            <a:pPr algn="l" marL="742729" indent="-371364" lvl="1">
              <a:lnSpc>
                <a:spcPts val="6742"/>
              </a:lnSpc>
              <a:buFont typeface="Arial"/>
              <a:buChar char="•"/>
            </a:pPr>
            <a:r>
              <a:rPr lang="en-US" b="true" sz="34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Điều kiện </a:t>
            </a:r>
            <a:r>
              <a:rPr lang="en-US" b="true" sz="34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2: </a:t>
            </a:r>
            <a:r>
              <a:rPr lang="en-US" sz="3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 đi qua khu vực sóng vệ tinh và sóng điện thoại yếu.</a:t>
            </a:r>
          </a:p>
          <a:p>
            <a:pPr algn="l" marL="742729" indent="-371364" lvl="1">
              <a:lnSpc>
                <a:spcPts val="6742"/>
              </a:lnSpc>
              <a:buFont typeface="Arial"/>
              <a:buChar char="•"/>
            </a:pPr>
            <a:r>
              <a:rPr lang="en-US" b="true" sz="34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 thống: </a:t>
            </a:r>
            <a:r>
              <a:rPr lang="en-US" sz="3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bị được cấp nguồn xuyên suốt, tài khoản telegram của phụ huynh đã được đăng kí.</a:t>
            </a:r>
          </a:p>
          <a:p>
            <a:pPr algn="l">
              <a:lnSpc>
                <a:spcPts val="6742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3083" y="196501"/>
            <a:ext cx="10162223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thử tính năng nhận diện và cập nhật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0268" y="1737673"/>
            <a:ext cx="17827732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Hành đ</a:t>
            </a: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ộng:</a:t>
            </a: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Học sinh quẹt thẻ RFID vào thiết bị (Thực hiện 15 lần cách nhau khoảng ngẫu nhiên).</a:t>
            </a:r>
          </a:p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quả kỳ vọng:</a:t>
            </a:r>
          </a:p>
          <a:p>
            <a:pPr algn="l" marL="1542595" indent="-514198" lvl="2">
              <a:lnSpc>
                <a:spcPts val="4286"/>
              </a:lnSpc>
              <a:spcBef>
                <a:spcPct val="0"/>
              </a:spcBef>
              <a:buFont typeface="Arial"/>
              <a:buChar char="⚬"/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 vọng 1: Còi kêu bíp, màn hình OLED báo tên + "LÊN/XUỐNG XE".</a:t>
            </a:r>
          </a:p>
          <a:p>
            <a:pPr algn="l" marL="1542595" indent="-514198" lvl="2">
              <a:lnSpc>
                <a:spcPts val="4286"/>
              </a:lnSpc>
              <a:spcBef>
                <a:spcPct val="0"/>
              </a:spcBef>
              <a:buFont typeface="Arial"/>
              <a:buChar char="⚬"/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 vọng 2: Trường status trên Firebase cập nhật đổi trạng thái (In &lt;-&gt; Out).</a:t>
            </a:r>
          </a:p>
          <a:p>
            <a:pPr algn="l" marL="1542595" indent="-514198" lvl="2">
              <a:lnSpc>
                <a:spcPts val="4286"/>
              </a:lnSpc>
              <a:spcBef>
                <a:spcPct val="0"/>
              </a:spcBef>
              <a:buFont typeface="Arial"/>
              <a:buChar char="⚬"/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 vọng 3: Điện thoại nhận được thông báo qua Telegram.</a:t>
            </a:r>
          </a:p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Số lần kiểm thử:</a:t>
            </a: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lần</a:t>
            </a:r>
          </a:p>
          <a:p>
            <a:pPr algn="l">
              <a:lnSpc>
                <a:spcPts val="4286"/>
              </a:lnSpc>
              <a:spcBef>
                <a:spcPct val="0"/>
              </a:spcBef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quả thực tế trong Điều kiện 1: Số lần đạt 15/15. Tỉ lệ lỗi: 0%.</a:t>
            </a:r>
          </a:p>
          <a:p>
            <a:pPr algn="l">
              <a:lnSpc>
                <a:spcPts val="4286"/>
              </a:lnSpc>
              <a:spcBef>
                <a:spcPct val="0"/>
              </a:spcBef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quả thực tế trong Điều kiện 2: Số lần đạt 5/15. Tỉ lệ lỗi: 67%.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002" y="156629"/>
            <a:ext cx="10130076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thử tính năng thông báo và truy vấn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1002" y="1381079"/>
            <a:ext cx="17355741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Hành đ</a:t>
            </a: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ộng:</a:t>
            </a: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Phụ huynh nhắn lệnh /vitri rồi đợi phản hồi vị trí xe buýt.</a:t>
            </a:r>
          </a:p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quả kỳ vọng:</a:t>
            </a:r>
          </a:p>
          <a:p>
            <a:pPr algn="l" marL="1542595" indent="-514198" lvl="2">
              <a:lnSpc>
                <a:spcPts val="4286"/>
              </a:lnSpc>
              <a:spcBef>
                <a:spcPct val="0"/>
              </a:spcBef>
              <a:buFont typeface="Arial"/>
              <a:buChar char="⚬"/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 vọng 1: Hệ thống nhận được tin nhắn của phụ huynh.</a:t>
            </a:r>
          </a:p>
          <a:p>
            <a:pPr algn="l" marL="1542595" indent="-514198" lvl="2">
              <a:lnSpc>
                <a:spcPts val="4286"/>
              </a:lnSpc>
              <a:spcBef>
                <a:spcPct val="0"/>
              </a:spcBef>
              <a:buFont typeface="Arial"/>
              <a:buChar char="⚬"/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 vọng 2: App Telegram nhận được tin nhắn phản hồi, kèm đường link Google Maps.</a:t>
            </a:r>
          </a:p>
          <a:p>
            <a:pPr algn="l" marL="1542595" indent="-514198" lvl="2">
              <a:lnSpc>
                <a:spcPts val="4286"/>
              </a:lnSpc>
              <a:spcBef>
                <a:spcPct val="0"/>
              </a:spcBef>
              <a:buFont typeface="Arial"/>
              <a:buChar char="⚬"/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 vọng 3: Sai số GPS thấp &lt; 20 mét.</a:t>
            </a:r>
          </a:p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Số lần kiểm thử:</a:t>
            </a: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lần</a:t>
            </a:r>
          </a:p>
          <a:p>
            <a:pPr algn="l" marL="771297" indent="-385649" lvl="1">
              <a:lnSpc>
                <a:spcPts val="42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quả đo thực tế</a:t>
            </a:r>
          </a:p>
          <a:p>
            <a:pPr algn="l">
              <a:lnSpc>
                <a:spcPts val="4286"/>
              </a:lnSpc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quả thực tế trong Điều kiện 1: Số lần đạt 13/15. Tỉ lệ lỗi: 13%.</a:t>
            </a:r>
          </a:p>
          <a:p>
            <a:pPr algn="l">
              <a:lnSpc>
                <a:spcPts val="4286"/>
              </a:lnSpc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quả thực tế trong Điều kiện 2: Số lần đạt 3/15. Tỉ lệ lỗi: 80%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004" y="3942397"/>
            <a:ext cx="13499992" cy="549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99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 - HƯỚNG PHÁT TRIỂN</a:t>
            </a:r>
          </a:p>
          <a:p>
            <a:pPr algn="ctr">
              <a:lnSpc>
                <a:spcPts val="10692"/>
              </a:lnSpc>
            </a:pPr>
          </a:p>
          <a:p>
            <a:pPr algn="ctr">
              <a:lnSpc>
                <a:spcPts val="10692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8959" y="175158"/>
            <a:ext cx="2073950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luận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8959" y="1285885"/>
            <a:ext cx="16366080" cy="711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717" indent="-391858" lvl="1">
              <a:lnSpc>
                <a:spcPts val="6170"/>
              </a:lnSpc>
              <a:buFont typeface="Arial"/>
              <a:buChar char="•"/>
            </a:pPr>
            <a:r>
              <a:rPr lang="en-US" b="true" sz="36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Đạt được:</a:t>
            </a:r>
          </a:p>
          <a:p>
            <a:pPr algn="l" marL="1567434" indent="-522478" lvl="2">
              <a:lnSpc>
                <a:spcPts val="6170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thành công mô hình IOT giải quyết 2 vấn đề đặt ra (Đ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iểm danh &amp; Định vị).</a:t>
            </a:r>
          </a:p>
          <a:p>
            <a:pPr algn="l" marL="1567434" indent="-522478" lvl="2">
              <a:lnSpc>
                <a:spcPts val="7078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chạy đa luồng ổn định, truyền nhận dữ liệu thời gian thực tốt.</a:t>
            </a:r>
          </a:p>
          <a:p>
            <a:pPr algn="l" marL="783717" indent="-391858" lvl="1">
              <a:lnSpc>
                <a:spcPts val="6170"/>
              </a:lnSpc>
              <a:buFont typeface="Arial"/>
              <a:buChar char="•"/>
            </a:pPr>
            <a:r>
              <a:rPr lang="en-US" b="true" sz="36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Hạn chế</a:t>
            </a:r>
            <a:r>
              <a:rPr lang="en-US" b="true" sz="36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algn="l" marL="1567434" indent="-522478" lvl="2">
              <a:lnSpc>
                <a:spcPts val="6170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 thuộc hoàn toàn vào kết nối mạng Wi-Fi trên xe.</a:t>
            </a:r>
          </a:p>
          <a:p>
            <a:pPr algn="l" marL="1567434" indent="-522478" lvl="2">
              <a:lnSpc>
                <a:spcPts val="6170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Chưa có phương pháp thay thế khi bị mất mạng.</a:t>
            </a:r>
          </a:p>
          <a:p>
            <a:pPr algn="l" marL="1567434" indent="-522478" lvl="2">
              <a:lnSpc>
                <a:spcPts val="6170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Kích thước nguyên mẫu mạch PCB vẫn còn khá lớn.</a:t>
            </a:r>
          </a:p>
          <a:p>
            <a:pPr algn="l">
              <a:lnSpc>
                <a:spcPts val="617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440" y="217843"/>
            <a:ext cx="4202906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Hướ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 phát triển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2822" y="1390876"/>
            <a:ext cx="15204043" cy="790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515" indent="-391757" lvl="1">
              <a:lnSpc>
                <a:spcPts val="7185"/>
              </a:lnSpc>
              <a:buFont typeface="Arial"/>
              <a:buChar char="•"/>
            </a:pPr>
            <a:r>
              <a:rPr lang="en-US" b="true" sz="36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Dev</a:t>
            </a:r>
            <a:r>
              <a:rPr lang="en-US" b="true" sz="36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ice:</a:t>
            </a:r>
          </a:p>
          <a:p>
            <a:pPr algn="l" marL="1567029" indent="-522343" lvl="2">
              <a:lnSpc>
                <a:spcPts val="7185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 hợp module SIM 4G để gửi SMS thông báo dự phòng.</a:t>
            </a:r>
          </a:p>
          <a:p>
            <a:pPr algn="l" marL="1567029" indent="-522343" lvl="2">
              <a:lnSpc>
                <a:spcPts val="7185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 hợp khe cắm thẻ nhớ MicroSD để lưu trữ dữ liệu offline.</a:t>
            </a:r>
          </a:p>
          <a:p>
            <a:pPr algn="l" marL="1567029" indent="-522343" lvl="2">
              <a:lnSpc>
                <a:spcPts val="7185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kích thước mạch sang linh kiện dán SMD.</a:t>
            </a:r>
          </a:p>
          <a:p>
            <a:pPr algn="l" marL="1567029" indent="-522343" lvl="2">
              <a:lnSpc>
                <a:spcPts val="7185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thiện độ chính xác, độ nhạy nhận sóng GPS.</a:t>
            </a:r>
          </a:p>
          <a:p>
            <a:pPr algn="l" marL="783515" indent="-391757" lvl="1">
              <a:lnSpc>
                <a:spcPts val="7185"/>
              </a:lnSpc>
              <a:buFont typeface="Arial"/>
              <a:buChar char="•"/>
            </a:pPr>
            <a:r>
              <a:rPr lang="en-US" b="true" sz="36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hệ App:</a:t>
            </a:r>
          </a:p>
          <a:p>
            <a:pPr algn="l" marL="1567029" indent="-522343" lvl="2">
              <a:lnSpc>
                <a:spcPts val="7185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 ứ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dụng cho tài xế/giám thị để thống kê danh sách học sinh trên xe.</a:t>
            </a:r>
          </a:p>
          <a:p>
            <a:pPr algn="l" marL="1567029" indent="-522343" lvl="2">
              <a:lnSpc>
                <a:spcPts val="7185"/>
              </a:lnSpc>
              <a:buFont typeface="Arial"/>
              <a:buChar char="⚬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 ứng dụng cho phụ huynh để phát triển thêm nhiều tính năng.</a:t>
            </a:r>
          </a:p>
          <a:p>
            <a:pPr algn="l">
              <a:lnSpc>
                <a:spcPts val="43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0072" y="4407037"/>
            <a:ext cx="7683461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b="true" sz="9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0072" y="4407037"/>
            <a:ext cx="813054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b="true" sz="9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SLIDE BỔ TRỢ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6084" y="220656"/>
            <a:ext cx="10254019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Đối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tượng khách hàng &amp; Tiêu chí hệ thống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6084" y="1439084"/>
            <a:ext cx="16893303" cy="6926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4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Đối tượng: </a:t>
            </a:r>
            <a:r>
              <a:rPr lang="en-US" sz="4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 trường, Đơn vị cung cấp dịch vụ đưa đón, Phụ huynh học sinh</a:t>
            </a:r>
            <a:r>
              <a:rPr lang="en-US" b="true" sz="4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>
              <a:lnSpc>
                <a:spcPts val="7909"/>
              </a:lnSpc>
            </a:pPr>
            <a:r>
              <a:rPr lang="en-US" b="true" sz="4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Lợi ích dành cho khách hàng:  </a:t>
            </a:r>
          </a:p>
          <a:p>
            <a:pPr algn="l" marL="898745" indent="-449373" lvl="1">
              <a:lnSpc>
                <a:spcPts val="7909"/>
              </a:lnSpc>
              <a:buFont typeface="Arial"/>
              <a:buChar char="•"/>
            </a:pPr>
            <a:r>
              <a:rPr lang="en-US" sz="4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Tiết kiệm chi phí vận hành</a:t>
            </a:r>
          </a:p>
          <a:p>
            <a:pPr algn="l" marL="898745" indent="-449373" lvl="1">
              <a:lnSpc>
                <a:spcPts val="7909"/>
              </a:lnSpc>
              <a:buFont typeface="Arial"/>
              <a:buChar char="•"/>
            </a:pPr>
            <a:r>
              <a:rPr lang="en-US" sz="4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 hiệu quả quản lý</a:t>
            </a:r>
          </a:p>
          <a:p>
            <a:pPr algn="l" marL="898745" indent="-449373" lvl="1">
              <a:lnSpc>
                <a:spcPts val="7909"/>
              </a:lnSpc>
              <a:buFont typeface="Arial"/>
              <a:buChar char="•"/>
            </a:pPr>
            <a:r>
              <a:rPr lang="en-US" sz="4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Đảm bảo an toàn, minh bạch</a:t>
            </a:r>
          </a:p>
          <a:p>
            <a:pPr algn="l" marL="898745" indent="-449373" lvl="1">
              <a:lnSpc>
                <a:spcPts val="7909"/>
              </a:lnSpc>
              <a:buFont typeface="Arial"/>
              <a:buChar char="•"/>
            </a:pPr>
            <a:r>
              <a:rPr lang="en-US" sz="4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 dàng mở rộng, linh hoạt</a:t>
            </a:r>
          </a:p>
          <a:p>
            <a:pPr algn="l" marL="898745" indent="-449373" lvl="1">
              <a:lnSpc>
                <a:spcPts val="7909"/>
              </a:lnSpc>
              <a:buFont typeface="Arial"/>
              <a:buChar char="•"/>
            </a:pPr>
            <a:r>
              <a:rPr lang="en-US" sz="4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Nâng cao trải nghiệm người dùng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935" y="1410730"/>
            <a:ext cx="5990033" cy="7716811"/>
          </a:xfrm>
          <a:custGeom>
            <a:avLst/>
            <a:gdLst/>
            <a:ahLst/>
            <a:cxnLst/>
            <a:rect r="r" b="b" t="t" l="l"/>
            <a:pathLst>
              <a:path h="7716811" w="5990033">
                <a:moveTo>
                  <a:pt x="0" y="0"/>
                </a:moveTo>
                <a:lnTo>
                  <a:pt x="5990034" y="0"/>
                </a:lnTo>
                <a:lnTo>
                  <a:pt x="5990034" y="7716810"/>
                </a:lnTo>
                <a:lnTo>
                  <a:pt x="0" y="7716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58" r="-11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0282" y="1410730"/>
            <a:ext cx="6269298" cy="7716811"/>
          </a:xfrm>
          <a:custGeom>
            <a:avLst/>
            <a:gdLst/>
            <a:ahLst/>
            <a:cxnLst/>
            <a:rect r="r" b="b" t="t" l="l"/>
            <a:pathLst>
              <a:path h="7716811" w="6269298">
                <a:moveTo>
                  <a:pt x="0" y="0"/>
                </a:moveTo>
                <a:lnTo>
                  <a:pt x="6269297" y="0"/>
                </a:lnTo>
                <a:lnTo>
                  <a:pt x="6269297" y="7716810"/>
                </a:lnTo>
                <a:lnTo>
                  <a:pt x="0" y="7716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826195" y="9765963"/>
            <a:ext cx="393194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1453" y="241999"/>
            <a:ext cx="6611660" cy="63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Chi</a:t>
            </a:r>
            <a:r>
              <a:rPr lang="en-US" b="true" sz="44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phí nguyên mẫu Device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87142" y="3339932"/>
            <a:ext cx="4471002" cy="3858405"/>
            <a:chOff x="0" y="0"/>
            <a:chExt cx="5961335" cy="51445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90888" cy="5135310"/>
            </a:xfrm>
            <a:custGeom>
              <a:avLst/>
              <a:gdLst/>
              <a:ahLst/>
              <a:cxnLst/>
              <a:rect r="r" b="b" t="t" l="l"/>
              <a:pathLst>
                <a:path h="5135310" w="3890888">
                  <a:moveTo>
                    <a:pt x="0" y="0"/>
                  </a:moveTo>
                  <a:lnTo>
                    <a:pt x="3890888" y="0"/>
                  </a:lnTo>
                  <a:lnTo>
                    <a:pt x="3890888" y="5135310"/>
                  </a:lnTo>
                  <a:lnTo>
                    <a:pt x="0" y="513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140" t="-1475" r="-239886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882786" y="9231"/>
              <a:ext cx="2078549" cy="5135310"/>
            </a:xfrm>
            <a:custGeom>
              <a:avLst/>
              <a:gdLst/>
              <a:ahLst/>
              <a:cxnLst/>
              <a:rect r="r" b="b" t="t" l="l"/>
              <a:pathLst>
                <a:path h="5135310" w="2078549">
                  <a:moveTo>
                    <a:pt x="0" y="0"/>
                  </a:moveTo>
                  <a:lnTo>
                    <a:pt x="2078549" y="0"/>
                  </a:lnTo>
                  <a:lnTo>
                    <a:pt x="2078549" y="5135310"/>
                  </a:lnTo>
                  <a:lnTo>
                    <a:pt x="0" y="513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90790" t="-1475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DAHOi8yqywY</dc:identifier>
  <dcterms:modified xsi:type="dcterms:W3CDTF">2011-08-01T06:04:30Z</dcterms:modified>
  <cp:revision>1</cp:revision>
  <dc:title>[SLIDE]_Đào Bá Khánh_ĐATN_Thiết kế, triển khai hệ thống IOT phát hiện và cảnh báo mất trộm, tai nạn xe máy.pptx</dc:title>
</cp:coreProperties>
</file>